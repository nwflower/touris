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1.jpeg" ContentType="image/jpeg"/>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2.jpeg" ContentType="image/jpeg"/>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Shape 97"/>
          <p:cNvSpPr/>
          <p:nvPr>
            <p:ph type="sldImg"/>
          </p:nvPr>
        </p:nvSpPr>
        <p:spPr>
          <a:prstGeom prst="rect">
            <a:avLst/>
          </a:prstGeom>
        </p:spPr>
        <p:txBody>
          <a:bodyPr/>
          <a:lstStyle/>
          <a:p>
            <a:pPr/>
          </a:p>
        </p:txBody>
      </p:sp>
      <p:sp>
        <p:nvSpPr>
          <p:cNvPr id="98" name="Shape 98"/>
          <p:cNvSpPr/>
          <p:nvPr>
            <p:ph type="body" sz="quarter" idx="1"/>
          </p:nvPr>
        </p:nvSpPr>
        <p:spPr>
          <a:prstGeom prst="rect">
            <a:avLst/>
          </a:prstGeom>
        </p:spPr>
        <p:txBody>
          <a:bodyPr/>
          <a:lstStyle/>
          <a:p>
            <a:pPr>
              <a:defRPr>
                <a:latin typeface="+mn-lt"/>
                <a:ea typeface="+mn-ea"/>
                <a:cs typeface="+mn-cs"/>
                <a:sym typeface="Helvetica"/>
              </a:defRPr>
            </a:pPr>
            <a:r>
              <a:t>各位评委、投资人，大家好。今天我非常荣幸能向大家展示一款重新定义旅行规划的产品</a:t>
            </a:r>
            <a:r>
              <a:rPr>
                <a:latin typeface="+mj-lt"/>
                <a:ea typeface="+mj-ea"/>
                <a:cs typeface="+mj-cs"/>
                <a:sym typeface="Calibri"/>
              </a:rPr>
              <a:t>——</a:t>
            </a:r>
            <a:r>
              <a:t>知途 </a:t>
            </a:r>
            <a:r>
              <a:rPr>
                <a:latin typeface="+mj-lt"/>
                <a:ea typeface="+mj-ea"/>
                <a:cs typeface="+mj-cs"/>
                <a:sym typeface="Calibri"/>
              </a:rPr>
              <a:t>TOURIS</a:t>
            </a:r>
            <a:r>
              <a:t>。我们常说</a:t>
            </a:r>
            <a:r>
              <a:rPr>
                <a:latin typeface="+mj-lt"/>
                <a:ea typeface="+mj-ea"/>
                <a:cs typeface="+mj-cs"/>
                <a:sym typeface="Calibri"/>
              </a:rPr>
              <a:t>'</a:t>
            </a:r>
            <a:r>
              <a:t>旅行不该每次都从零开始</a:t>
            </a:r>
            <a:r>
              <a:rPr>
                <a:latin typeface="+mj-lt"/>
                <a:ea typeface="+mj-ea"/>
                <a:cs typeface="+mj-cs"/>
                <a:sym typeface="Calibri"/>
              </a:rPr>
              <a:t>'</a:t>
            </a:r>
            <a:r>
              <a:t>，知途正是基于这一理念，打造了一个以</a:t>
            </a:r>
            <a:r>
              <a:rPr>
                <a:latin typeface="+mj-lt"/>
                <a:ea typeface="+mj-ea"/>
                <a:cs typeface="+mj-cs"/>
                <a:sym typeface="Calibri"/>
              </a:rPr>
              <a:t>'</a:t>
            </a:r>
            <a:r>
              <a:t>记忆</a:t>
            </a:r>
            <a:r>
              <a:rPr>
                <a:latin typeface="+mj-lt"/>
                <a:ea typeface="+mj-ea"/>
                <a:cs typeface="+mj-cs"/>
                <a:sym typeface="Calibri"/>
              </a:rPr>
              <a:t>'</a:t>
            </a:r>
            <a:r>
              <a:t>为核心护城河的智能规划引擎，让每一次出行都成为自我认知的延伸。</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Shape 114"/>
          <p:cNvSpPr/>
          <p:nvPr>
            <p:ph type="sldImg"/>
          </p:nvPr>
        </p:nvSpPr>
        <p:spPr>
          <a:prstGeom prst="rect">
            <a:avLst/>
          </a:prstGeom>
        </p:spPr>
        <p:txBody>
          <a:bodyPr/>
          <a:lstStyle/>
          <a:p>
            <a:pPr/>
          </a:p>
        </p:txBody>
      </p:sp>
      <p:sp>
        <p:nvSpPr>
          <p:cNvPr id="115" name="Shape 115"/>
          <p:cNvSpPr/>
          <p:nvPr>
            <p:ph type="body" sz="quarter" idx="1"/>
          </p:nvPr>
        </p:nvSpPr>
        <p:spPr>
          <a:prstGeom prst="rect">
            <a:avLst/>
          </a:prstGeom>
        </p:spPr>
        <p:txBody>
          <a:bodyPr/>
          <a:lstStyle/>
          <a:p>
            <a:pPr>
              <a:defRPr>
                <a:latin typeface="+mn-lt"/>
                <a:ea typeface="+mn-ea"/>
                <a:cs typeface="+mn-cs"/>
                <a:sym typeface="Helvetica"/>
              </a:defRPr>
            </a:pPr>
            <a:r>
              <a:t>今天的分享将分为三个部分：首先，我们将剖析当前旅行规划市场的核心痛点与传统工具的局限；其次，详细拆解知途</a:t>
            </a:r>
            <a:r>
              <a:rPr>
                <a:latin typeface="+mj-lt"/>
                <a:ea typeface="+mj-ea"/>
                <a:cs typeface="+mj-cs"/>
                <a:sym typeface="Calibri"/>
              </a:rPr>
              <a:t>TOURIS</a:t>
            </a:r>
            <a:r>
              <a:t>如何通过</a:t>
            </a:r>
            <a:r>
              <a:rPr>
                <a:latin typeface="+mj-lt"/>
                <a:ea typeface="+mj-ea"/>
                <a:cs typeface="+mj-cs"/>
                <a:sym typeface="Calibri"/>
              </a:rPr>
              <a:t>'</a:t>
            </a:r>
            <a:r>
              <a:t>记忆驱动</a:t>
            </a:r>
            <a:r>
              <a:rPr>
                <a:latin typeface="+mj-lt"/>
                <a:ea typeface="+mj-ea"/>
                <a:cs typeface="+mj-cs"/>
                <a:sym typeface="Calibri"/>
              </a:rPr>
              <a:t>'</a:t>
            </a:r>
            <a:r>
              <a:t>和</a:t>
            </a:r>
            <a:r>
              <a:rPr>
                <a:latin typeface="+mj-lt"/>
                <a:ea typeface="+mj-ea"/>
                <a:cs typeface="+mj-cs"/>
                <a:sym typeface="Calibri"/>
              </a:rPr>
              <a:t>'</a:t>
            </a:r>
            <a:r>
              <a:t>多维方案</a:t>
            </a:r>
            <a:r>
              <a:rPr>
                <a:latin typeface="+mj-lt"/>
                <a:ea typeface="+mj-ea"/>
                <a:cs typeface="+mj-cs"/>
                <a:sym typeface="Calibri"/>
              </a:rPr>
              <a:t>'</a:t>
            </a:r>
            <a:r>
              <a:t>解决这些问题；最后，探讨我们的技术壁垒以及未来的商业化愿景。</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Shape 119"/>
          <p:cNvSpPr/>
          <p:nvPr>
            <p:ph type="sldImg"/>
          </p:nvPr>
        </p:nvSpPr>
        <p:spPr>
          <a:prstGeom prst="rect">
            <a:avLst/>
          </a:prstGeom>
        </p:spPr>
        <p:txBody>
          <a:bodyPr/>
          <a:lstStyle/>
          <a:p>
            <a:pPr/>
          </a:p>
        </p:txBody>
      </p:sp>
      <p:sp>
        <p:nvSpPr>
          <p:cNvPr id="120" name="Shape 120"/>
          <p:cNvSpPr/>
          <p:nvPr>
            <p:ph type="body" sz="quarter" idx="1"/>
          </p:nvPr>
        </p:nvSpPr>
        <p:spPr>
          <a:prstGeom prst="rect">
            <a:avLst/>
          </a:prstGeom>
        </p:spPr>
        <p:txBody>
          <a:bodyPr/>
          <a:lstStyle>
            <a:lvl1pPr>
              <a:defRPr>
                <a:latin typeface="+mn-lt"/>
                <a:ea typeface="+mn-ea"/>
                <a:cs typeface="+mn-cs"/>
                <a:sym typeface="Helvetica"/>
              </a:defRPr>
            </a:lvl1pPr>
          </a:lstStyle>
          <a:p>
            <a:pPr/>
            <a:r>
              <a:t>让我们先来看看，现在的用户在规划旅行时，到底在经历怎样的折磨。</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Shape 138"/>
          <p:cNvSpPr/>
          <p:nvPr>
            <p:ph type="sldImg"/>
          </p:nvPr>
        </p:nvSpPr>
        <p:spPr>
          <a:prstGeom prst="rect">
            <a:avLst/>
          </a:prstGeom>
        </p:spPr>
        <p:txBody>
          <a:bodyPr/>
          <a:lstStyle/>
          <a:p>
            <a:pPr/>
          </a:p>
        </p:txBody>
      </p:sp>
      <p:sp>
        <p:nvSpPr>
          <p:cNvPr id="139" name="Shape 139"/>
          <p:cNvSpPr/>
          <p:nvPr>
            <p:ph type="body" sz="quarter" idx="1"/>
          </p:nvPr>
        </p:nvSpPr>
        <p:spPr>
          <a:prstGeom prst="rect">
            <a:avLst/>
          </a:prstGeom>
        </p:spPr>
        <p:txBody>
          <a:bodyPr/>
          <a:lstStyle/>
          <a:p>
            <a:pPr>
              <a:defRPr>
                <a:latin typeface="+mn-lt"/>
                <a:ea typeface="+mn-ea"/>
                <a:cs typeface="+mn-cs"/>
                <a:sym typeface="Helvetica"/>
              </a:defRPr>
            </a:pPr>
            <a:r>
              <a:t>大家在规划旅行时，一定听过或自己抱怨过这些话。比如</a:t>
            </a:r>
            <a:r>
              <a:rPr>
                <a:latin typeface="+mj-lt"/>
                <a:ea typeface="+mj-ea"/>
                <a:cs typeface="+mj-cs"/>
                <a:sym typeface="Calibri"/>
              </a:rPr>
              <a:t>'</a:t>
            </a:r>
            <a:r>
              <a:t>换个</a:t>
            </a:r>
            <a:r>
              <a:rPr>
                <a:latin typeface="+mj-lt"/>
                <a:ea typeface="+mj-ea"/>
                <a:cs typeface="+mj-cs"/>
                <a:sym typeface="Calibri"/>
              </a:rPr>
              <a:t>App</a:t>
            </a:r>
            <a:r>
              <a:t>记忆全清零</a:t>
            </a:r>
            <a:r>
              <a:rPr>
                <a:latin typeface="+mj-lt"/>
                <a:ea typeface="+mj-ea"/>
                <a:cs typeface="+mj-cs"/>
                <a:sym typeface="Calibri"/>
              </a:rPr>
              <a:t>'</a:t>
            </a:r>
            <a:r>
              <a:t>，这反映了跨平台的数据孤岛问题；</a:t>
            </a:r>
            <a:r>
              <a:rPr>
                <a:latin typeface="+mj-lt"/>
                <a:ea typeface="+mj-ea"/>
                <a:cs typeface="+mj-cs"/>
                <a:sym typeface="Calibri"/>
              </a:rPr>
              <a:t>'</a:t>
            </a:r>
            <a:r>
              <a:t>系统只会推热门打卡点</a:t>
            </a:r>
            <a:r>
              <a:rPr>
                <a:latin typeface="+mj-lt"/>
                <a:ea typeface="+mj-ea"/>
                <a:cs typeface="+mj-cs"/>
                <a:sym typeface="Calibri"/>
              </a:rPr>
              <a:t>'</a:t>
            </a:r>
            <a:r>
              <a:t>，说明标准化推荐与个人体能、节奏需求严重错配；</a:t>
            </a:r>
            <a:r>
              <a:rPr>
                <a:latin typeface="+mj-lt"/>
                <a:ea typeface="+mj-ea"/>
                <a:cs typeface="+mj-cs"/>
                <a:sym typeface="Calibri"/>
              </a:rPr>
              <a:t>'</a:t>
            </a:r>
            <a:r>
              <a:t>路线规划不顾及通勤</a:t>
            </a:r>
            <a:r>
              <a:rPr>
                <a:latin typeface="+mj-lt"/>
                <a:ea typeface="+mj-ea"/>
                <a:cs typeface="+mj-cs"/>
                <a:sym typeface="Calibri"/>
              </a:rPr>
              <a:t>'</a:t>
            </a:r>
            <a:r>
              <a:t>，暴露了空间地理约束算法的缺失；还有</a:t>
            </a:r>
            <a:r>
              <a:rPr>
                <a:latin typeface="+mj-lt"/>
                <a:ea typeface="+mj-ea"/>
                <a:cs typeface="+mj-cs"/>
                <a:sym typeface="Calibri"/>
              </a:rPr>
              <a:t>'</a:t>
            </a:r>
            <a:r>
              <a:t>推的餐厅全是网红店</a:t>
            </a:r>
            <a:r>
              <a:rPr>
                <a:latin typeface="+mj-lt"/>
                <a:ea typeface="+mj-ea"/>
                <a:cs typeface="+mj-cs"/>
                <a:sym typeface="Calibri"/>
              </a:rPr>
              <a:t>'</a:t>
            </a:r>
            <a:r>
              <a:t>，证明现有的标签化推荐根本无法挖掘深层偏好。这些痛点汇聚成一个核心问题：现有工具让每次规划都成了孤立的</a:t>
            </a:r>
            <a:r>
              <a:rPr>
                <a:latin typeface="+mj-lt"/>
                <a:ea typeface="+mj-ea"/>
                <a:cs typeface="+mj-cs"/>
                <a:sym typeface="Calibri"/>
              </a:rPr>
              <a:t>'</a:t>
            </a:r>
            <a:r>
              <a:t>失忆</a:t>
            </a:r>
            <a:r>
              <a:rPr>
                <a:latin typeface="+mj-lt"/>
                <a:ea typeface="+mj-ea"/>
                <a:cs typeface="+mj-cs"/>
                <a:sym typeface="Calibri"/>
              </a:rPr>
              <a:t>'</a:t>
            </a:r>
            <a:r>
              <a:t>事件。</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 name="Shape 143"/>
          <p:cNvSpPr/>
          <p:nvPr>
            <p:ph type="sldImg"/>
          </p:nvPr>
        </p:nvSpPr>
        <p:spPr>
          <a:prstGeom prst="rect">
            <a:avLst/>
          </a:prstGeom>
        </p:spPr>
        <p:txBody>
          <a:bodyPr/>
          <a:lstStyle/>
          <a:p>
            <a:pPr/>
          </a:p>
        </p:txBody>
      </p:sp>
      <p:sp>
        <p:nvSpPr>
          <p:cNvPr id="144" name="Shape 144"/>
          <p:cNvSpPr/>
          <p:nvPr>
            <p:ph type="body" sz="quarter" idx="1"/>
          </p:nvPr>
        </p:nvSpPr>
        <p:spPr>
          <a:prstGeom prst="rect">
            <a:avLst/>
          </a:prstGeom>
        </p:spPr>
        <p:txBody>
          <a:bodyPr/>
          <a:lstStyle/>
          <a:p>
            <a:pPr>
              <a:defRPr>
                <a:latin typeface="+mn-lt"/>
                <a:ea typeface="+mn-ea"/>
                <a:cs typeface="+mn-cs"/>
                <a:sym typeface="Helvetica"/>
              </a:defRPr>
            </a:pPr>
            <a:r>
              <a:t>接下来，让我们正式走进知途</a:t>
            </a:r>
            <a:r>
              <a:rPr>
                <a:latin typeface="+mj-lt"/>
                <a:ea typeface="+mj-ea"/>
                <a:cs typeface="+mj-cs"/>
                <a:sym typeface="Calibri"/>
              </a:rPr>
              <a:t>TOURIS</a:t>
            </a:r>
            <a:r>
              <a:t>，看看这款记忆驱动的智能规划产品是如何将刚才提到的破局思路落地的。</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Shape 164"/>
          <p:cNvSpPr/>
          <p:nvPr>
            <p:ph type="sldImg"/>
          </p:nvPr>
        </p:nvSpPr>
        <p:spPr>
          <a:prstGeom prst="rect">
            <a:avLst/>
          </a:prstGeom>
        </p:spPr>
        <p:txBody>
          <a:bodyPr/>
          <a:lstStyle/>
          <a:p>
            <a:pPr/>
          </a:p>
        </p:txBody>
      </p:sp>
      <p:sp>
        <p:nvSpPr>
          <p:cNvPr id="165" name="Shape 165"/>
          <p:cNvSpPr/>
          <p:nvPr>
            <p:ph type="body" sz="quarter" idx="1"/>
          </p:nvPr>
        </p:nvSpPr>
        <p:spPr>
          <a:prstGeom prst="rect">
            <a:avLst/>
          </a:prstGeom>
        </p:spPr>
        <p:txBody>
          <a:bodyPr/>
          <a:lstStyle/>
          <a:p>
            <a:pPr>
              <a:defRPr>
                <a:latin typeface="+mn-lt"/>
                <a:ea typeface="+mn-ea"/>
                <a:cs typeface="+mn-cs"/>
                <a:sym typeface="Helvetica"/>
              </a:defRPr>
            </a:pPr>
            <a:r>
              <a:t>这是知途</a:t>
            </a:r>
            <a:r>
              <a:rPr>
                <a:latin typeface="+mj-lt"/>
                <a:ea typeface="+mj-ea"/>
                <a:cs typeface="+mj-cs"/>
                <a:sym typeface="Calibri"/>
              </a:rPr>
              <a:t>TOURIS</a:t>
            </a:r>
            <a:r>
              <a:t>的产品首页，直观展示了我们如何用记忆驱动的方式解决旅行规划的痛点。用户不再需要每次都从零开始搜索，系统会记住你的偏好。</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Shape 170"/>
          <p:cNvSpPr/>
          <p:nvPr>
            <p:ph type="sldImg"/>
          </p:nvPr>
        </p:nvSpPr>
        <p:spPr>
          <a:prstGeom prst="rect">
            <a:avLst/>
          </a:prstGeom>
        </p:spPr>
        <p:txBody>
          <a:bodyPr/>
          <a:lstStyle/>
          <a:p>
            <a:pPr/>
          </a:p>
        </p:txBody>
      </p:sp>
      <p:sp>
        <p:nvSpPr>
          <p:cNvPr id="171" name="Shape 171"/>
          <p:cNvSpPr/>
          <p:nvPr>
            <p:ph type="body" sz="quarter" idx="1"/>
          </p:nvPr>
        </p:nvSpPr>
        <p:spPr>
          <a:prstGeom prst="rect">
            <a:avLst/>
          </a:prstGeom>
        </p:spPr>
        <p:txBody>
          <a:bodyPr/>
          <a:lstStyle/>
          <a:p>
            <a:pPr>
              <a:defRPr>
                <a:latin typeface="+mn-lt"/>
                <a:ea typeface="+mn-ea"/>
                <a:cs typeface="+mn-cs"/>
                <a:sym typeface="Helvetica"/>
              </a:defRPr>
            </a:pPr>
            <a:r>
              <a:t>了解了产品功能和技术底座后，我们来看看知途</a:t>
            </a:r>
            <a:r>
              <a:rPr>
                <a:latin typeface="+mj-lt"/>
                <a:ea typeface="+mj-ea"/>
                <a:cs typeface="+mj-cs"/>
                <a:sym typeface="Calibri"/>
              </a:rPr>
              <a:t>TOURIS</a:t>
            </a:r>
            <a:r>
              <a:t>在商业市场上的核心壁垒以及未来的演进方向。</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Shape 199"/>
          <p:cNvSpPr/>
          <p:nvPr>
            <p:ph type="sldImg"/>
          </p:nvPr>
        </p:nvSpPr>
        <p:spPr>
          <a:prstGeom prst="rect">
            <a:avLst/>
          </a:prstGeom>
        </p:spPr>
        <p:txBody>
          <a:bodyPr/>
          <a:lstStyle/>
          <a:p>
            <a:pPr/>
          </a:p>
        </p:txBody>
      </p:sp>
      <p:sp>
        <p:nvSpPr>
          <p:cNvPr id="200" name="Shape 200"/>
          <p:cNvSpPr/>
          <p:nvPr>
            <p:ph type="body" sz="quarter" idx="1"/>
          </p:nvPr>
        </p:nvSpPr>
        <p:spPr>
          <a:prstGeom prst="rect">
            <a:avLst/>
          </a:prstGeom>
        </p:spPr>
        <p:txBody>
          <a:bodyPr/>
          <a:lstStyle/>
          <a:p>
            <a:pPr>
              <a:defRPr>
                <a:latin typeface="+mn-lt"/>
                <a:ea typeface="+mn-ea"/>
                <a:cs typeface="+mn-cs"/>
                <a:sym typeface="Helvetica"/>
              </a:defRPr>
            </a:pPr>
            <a:r>
              <a:t>知途最大的独特性，也是我们的核心护城河，就是</a:t>
            </a:r>
            <a:r>
              <a:rPr>
                <a:latin typeface="+mj-lt"/>
                <a:ea typeface="+mj-ea"/>
                <a:cs typeface="+mj-cs"/>
                <a:sym typeface="Calibri"/>
              </a:rPr>
              <a:t>'</a:t>
            </a:r>
            <a:r>
              <a:t>记忆资产</a:t>
            </a:r>
            <a:r>
              <a:rPr>
                <a:latin typeface="+mj-lt"/>
                <a:ea typeface="+mj-ea"/>
                <a:cs typeface="+mj-cs"/>
                <a:sym typeface="Calibri"/>
              </a:rPr>
              <a:t>'</a:t>
            </a:r>
            <a:r>
              <a:t>带来的极高用户迁移成本。就像用户不会轻易放弃积累了多年的网易云音乐歌单一样，当用户在知途沉淀了数十条旅行偏好记忆后，他们更换其他规划工具的成本将变得不可接受。这种</a:t>
            </a:r>
            <a:r>
              <a:rPr>
                <a:latin typeface="+mj-lt"/>
                <a:ea typeface="+mj-ea"/>
                <a:cs typeface="+mj-cs"/>
                <a:sym typeface="Calibri"/>
              </a:rPr>
              <a:t>'</a:t>
            </a:r>
            <a:r>
              <a:t>越用越好用</a:t>
            </a:r>
            <a:r>
              <a:rPr>
                <a:latin typeface="+mj-lt"/>
                <a:ea typeface="+mj-ea"/>
                <a:cs typeface="+mj-cs"/>
                <a:sym typeface="Calibri"/>
              </a:rPr>
              <a:t>'</a:t>
            </a:r>
            <a:r>
              <a:t>的数据飞轮效应，不仅带来了超高的用户留存率，也让我们从单纯的</a:t>
            </a:r>
            <a:r>
              <a:rPr>
                <a:latin typeface="+mj-lt"/>
                <a:ea typeface="+mj-ea"/>
                <a:cs typeface="+mj-cs"/>
                <a:sym typeface="Calibri"/>
              </a:rPr>
              <a:t>'</a:t>
            </a:r>
            <a:r>
              <a:t>工具提供商</a:t>
            </a:r>
            <a:r>
              <a:rPr>
                <a:latin typeface="+mj-lt"/>
                <a:ea typeface="+mj-ea"/>
                <a:cs typeface="+mj-cs"/>
                <a:sym typeface="Calibri"/>
              </a:rPr>
              <a:t>'</a:t>
            </a:r>
            <a:r>
              <a:t>转型为</a:t>
            </a:r>
            <a:r>
              <a:rPr>
                <a:latin typeface="+mj-lt"/>
                <a:ea typeface="+mj-ea"/>
                <a:cs typeface="+mj-cs"/>
                <a:sym typeface="Calibri"/>
              </a:rPr>
              <a:t>'</a:t>
            </a:r>
            <a:r>
              <a:t>个人旅行数据管家</a:t>
            </a:r>
            <a:r>
              <a:rPr>
                <a:latin typeface="+mj-lt"/>
                <a:ea typeface="+mj-ea"/>
                <a:cs typeface="+mj-cs"/>
                <a:sym typeface="Calibri"/>
              </a:rPr>
              <a:t>'</a:t>
            </a:r>
            <a:r>
              <a:t>，为未来的高端定制游、精准本地生活推荐打下了坚实的商业基础。</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Shape 209"/>
          <p:cNvSpPr/>
          <p:nvPr>
            <p:ph type="sldImg"/>
          </p:nvPr>
        </p:nvSpPr>
        <p:spPr>
          <a:prstGeom prst="rect">
            <a:avLst/>
          </a:prstGeom>
        </p:spPr>
        <p:txBody>
          <a:bodyPr/>
          <a:lstStyle/>
          <a:p>
            <a:pPr/>
          </a:p>
        </p:txBody>
      </p:sp>
      <p:sp>
        <p:nvSpPr>
          <p:cNvPr id="210" name="Shape 210"/>
          <p:cNvSpPr/>
          <p:nvPr>
            <p:ph type="body" sz="quarter" idx="1"/>
          </p:nvPr>
        </p:nvSpPr>
        <p:spPr>
          <a:prstGeom prst="rect">
            <a:avLst/>
          </a:prstGeom>
        </p:spPr>
        <p:txBody>
          <a:bodyPr/>
          <a:lstStyle/>
          <a:p>
            <a:pPr>
              <a:defRPr>
                <a:latin typeface="+mn-lt"/>
                <a:ea typeface="+mn-ea"/>
                <a:cs typeface="+mn-cs"/>
                <a:sym typeface="Helvetica"/>
              </a:defRPr>
            </a:pPr>
            <a:r>
              <a:t>旅行不该每次都从零开始，知途</a:t>
            </a:r>
            <a:r>
              <a:rPr>
                <a:latin typeface="+mj-lt"/>
                <a:ea typeface="+mj-ea"/>
                <a:cs typeface="+mj-cs"/>
                <a:sym typeface="Calibri"/>
              </a:rPr>
              <a:t>TOURIS</a:t>
            </a:r>
            <a:r>
              <a:t>致力于让每一次出发都站在过去的肩膀上。感谢大家的聆听，期待与各位共同探索智慧旅行的无限可能。欢迎交流探讨！</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0" algn="ctr">
              <a:buSzTx/>
              <a:buFontTx/>
              <a:buNone/>
              <a:defRPr>
                <a:solidFill>
                  <a:srgbClr val="888888"/>
                </a:solidFill>
              </a:defRPr>
            </a:lvl2pPr>
            <a:lvl3pPr marL="0" indent="0" algn="ctr">
              <a:buSzTx/>
              <a:buFontTx/>
              <a:buNone/>
              <a:defRPr>
                <a:solidFill>
                  <a:srgbClr val="888888"/>
                </a:solidFill>
              </a:defRPr>
            </a:lvl3pPr>
            <a:lvl4pPr marL="0" indent="0" algn="ctr">
              <a:buSzTx/>
              <a:buFontTx/>
              <a:buNone/>
              <a:defRPr>
                <a:solidFill>
                  <a:srgbClr val="888888"/>
                </a:solidFill>
              </a:defRPr>
            </a:lvl4pPr>
            <a:lvl5pPr marL="0" indent="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9"/>
          </a:xfrm>
          <a:prstGeom prst="rect">
            <a:avLst/>
          </a:prstGeom>
        </p:spPr>
        <p:txBody>
          <a:bodyPr anchor="b"/>
          <a:lstStyle>
            <a:lvl1pPr marL="0" indent="0">
              <a:spcBef>
                <a:spcPts val="400"/>
              </a:spcBef>
              <a:buSzTx/>
              <a:buFontTx/>
              <a:buNone/>
              <a:defRPr sz="2000">
                <a:solidFill>
                  <a:srgbClr val="888888"/>
                </a:solidFill>
              </a:defRPr>
            </a:lvl1pPr>
            <a:lvl2pPr marL="0" indent="0">
              <a:spcBef>
                <a:spcPts val="400"/>
              </a:spcBef>
              <a:buSzTx/>
              <a:buFontTx/>
              <a:buNone/>
              <a:defRPr sz="2000">
                <a:solidFill>
                  <a:srgbClr val="888888"/>
                </a:solidFill>
              </a:defRPr>
            </a:lvl2pPr>
            <a:lvl3pPr marL="0" indent="0">
              <a:spcBef>
                <a:spcPts val="400"/>
              </a:spcBef>
              <a:buSzTx/>
              <a:buFontTx/>
              <a:buNone/>
              <a:defRPr sz="2000">
                <a:solidFill>
                  <a:srgbClr val="888888"/>
                </a:solidFill>
              </a:defRPr>
            </a:lvl3pPr>
            <a:lvl4pPr marL="0" indent="0">
              <a:spcBef>
                <a:spcPts val="400"/>
              </a:spcBef>
              <a:buSzTx/>
              <a:buFontTx/>
              <a:buNone/>
              <a:defRPr sz="2000">
                <a:solidFill>
                  <a:srgbClr val="888888"/>
                </a:solidFill>
              </a:defRPr>
            </a:lvl4pPr>
            <a:lvl5pPr marL="0" indent="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8" indent="-320038">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0">
              <a:spcBef>
                <a:spcPts val="500"/>
              </a:spcBef>
              <a:buSzTx/>
              <a:buFontTx/>
              <a:buNone/>
              <a:defRPr b="1" sz="2400"/>
            </a:lvl2pPr>
            <a:lvl3pPr marL="0" indent="0">
              <a:spcBef>
                <a:spcPts val="500"/>
              </a:spcBef>
              <a:buSzTx/>
              <a:buFontTx/>
              <a:buNone/>
              <a:defRPr b="1" sz="2400"/>
            </a:lvl3pPr>
            <a:lvl4pPr marL="0" indent="0">
              <a:spcBef>
                <a:spcPts val="500"/>
              </a:spcBef>
              <a:buSzTx/>
              <a:buFontTx/>
              <a:buNone/>
              <a:defRPr b="1" sz="2400"/>
            </a:lvl4pPr>
            <a:lvl5pPr marL="0" indent="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1"/>
            <a:ext cx="4041775" cy="639765"/>
          </a:xfrm>
          <a:prstGeom prst="rect">
            <a:avLst/>
          </a:prstGeom>
        </p:spPr>
        <p:txBody>
          <a:bodyPr anchor="b"/>
          <a:lstStyle/>
          <a:p>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5" cy="1162050"/>
          </a:xfrm>
          <a:prstGeom prst="rect">
            <a:avLst/>
          </a:prstGeom>
        </p:spPr>
        <p:txBody>
          <a:bodyPr anchor="b"/>
          <a:lstStyle>
            <a:lvl1pPr algn="l">
              <a:defRPr b="1" sz="2000"/>
            </a:lvl1pPr>
          </a:lstStyle>
          <a:p>
            <a:pPr/>
            <a:r>
              <a:t>Title Text</a:t>
            </a:r>
          </a:p>
        </p:txBody>
      </p:sp>
      <p:sp>
        <p:nvSpPr>
          <p:cNvPr id="73" name="Body Level One…"/>
          <p:cNvSpPr txBox="1"/>
          <p:nvPr>
            <p:ph type="body" sz="half"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457198" y="1435100"/>
            <a:ext cx="3008316" cy="4691063"/>
          </a:xfrm>
          <a:prstGeom prst="rect">
            <a:avLst/>
          </a:prstGeom>
        </p:spPr>
        <p:txBody>
          <a:bodyPr/>
          <a:lstStyle/>
          <a:p>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2"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2" cy="4114800"/>
          </a:xfrm>
          <a:prstGeom prst="rect">
            <a:avLst/>
          </a:prstGeom>
        </p:spPr>
        <p:txBody>
          <a:bodyPr lIns="91439" tIns="45719" rIns="91439" bIns="45719">
            <a:noAutofit/>
          </a:bodyPr>
          <a:lstStyle/>
          <a:p>
            <a:pPr/>
          </a:p>
        </p:txBody>
      </p:sp>
      <p:sp>
        <p:nvSpPr>
          <p:cNvPr id="84" name="Body Level One…"/>
          <p:cNvSpPr txBox="1"/>
          <p:nvPr>
            <p:ph type="body" sz="quarter" idx="1"/>
          </p:nvPr>
        </p:nvSpPr>
        <p:spPr>
          <a:xfrm>
            <a:off x="1792288" y="5367337"/>
            <a:ext cx="5486402" cy="804864"/>
          </a:xfrm>
          <a:prstGeom prst="rect">
            <a:avLst/>
          </a:prstGeom>
        </p:spPr>
        <p:txBody>
          <a:bodyPr/>
          <a:lstStyle>
            <a:lvl1pPr marL="0" indent="0">
              <a:spcBef>
                <a:spcPts val="300"/>
              </a:spcBef>
              <a:buSzTx/>
              <a:buFontTx/>
              <a:buNone/>
              <a:defRPr sz="1400"/>
            </a:lvl1pPr>
            <a:lvl2pPr marL="0" indent="0">
              <a:spcBef>
                <a:spcPts val="300"/>
              </a:spcBef>
              <a:buSzTx/>
              <a:buFontTx/>
              <a:buNone/>
              <a:defRPr sz="1400"/>
            </a:lvl2pPr>
            <a:lvl3pPr marL="0" indent="0">
              <a:spcBef>
                <a:spcPts val="300"/>
              </a:spcBef>
              <a:buSzTx/>
              <a:buFontTx/>
              <a:buNone/>
              <a:defRPr sz="1400"/>
            </a:lvl3pPr>
            <a:lvl4pPr marL="0" indent="0">
              <a:spcBef>
                <a:spcPts val="300"/>
              </a:spcBef>
              <a:buSzTx/>
              <a:buFontTx/>
              <a:buNone/>
              <a:defRPr sz="1400"/>
            </a:lvl4pPr>
            <a:lvl5pPr marL="0" indent="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normAutofit fontScale="100000" lnSpcReduction="0"/>
          </a:bodyPr>
          <a:lstStyle/>
          <a:p>
            <a:pPr/>
            <a:r>
              <a:t>Title Text</a:t>
            </a:r>
          </a:p>
        </p:txBody>
      </p:sp>
      <p:sp>
        <p:nvSpPr>
          <p:cNvPr id="3" name="Body Level One…"/>
          <p:cNvSpPr txBox="1"/>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8" y="6414761"/>
            <a:ext cx="258623" cy="248303"/>
          </a:xfrm>
          <a:prstGeom prst="rect">
            <a:avLst/>
          </a:prstGeom>
          <a:ln w="12700">
            <a:miter lim="400000"/>
          </a:ln>
        </p:spPr>
        <p:txBody>
          <a:bodyPr wrap="none" lIns="45718" tIns="45718" rIns="45718" bIns="45718"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hyperlink" Target="https://www.bilibili.com/video/BV1JnYY6CE8a?t=2.3" TargetMode="External"/><Relationship Id="rId5" Type="http://schemas.openxmlformats.org/officeDocument/2006/relationships/hyperlink" Target="https://www.modelscope.cn/studios/Nwflower/Touris" TargetMode="External"/></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jpeg"/></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94" name="1a228a5afd40652bd48aff1e3bcfdc51.jpg" descr="1a228a5afd40652bd48aff1e3bcfdc51.jpg"/>
          <p:cNvPicPr>
            <a:picLocks noChangeAspect="1"/>
          </p:cNvPicPr>
          <p:nvPr/>
        </p:nvPicPr>
        <p:blipFill>
          <a:blip r:embed="rId3">
            <a:extLst/>
          </a:blip>
          <a:stretch>
            <a:fillRect/>
          </a:stretch>
        </p:blipFill>
        <p:spPr>
          <a:xfrm>
            <a:off x="-129411" y="-461882"/>
            <a:ext cx="12450823" cy="7781764"/>
          </a:xfrm>
          <a:prstGeom prst="rect">
            <a:avLst/>
          </a:prstGeom>
          <a:ln w="12700">
            <a:miter lim="400000"/>
          </a:ln>
        </p:spPr>
      </p:pic>
      <p:sp>
        <p:nvSpPr>
          <p:cNvPr id="95" name="TextBox 4"/>
          <p:cNvSpPr txBox="1"/>
          <p:nvPr/>
        </p:nvSpPr>
        <p:spPr>
          <a:xfrm>
            <a:off x="3405720" y="1063577"/>
            <a:ext cx="5380559" cy="1244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defRPr b="1" sz="7000">
                <a:gradFill flip="none" rotWithShape="1">
                  <a:gsLst>
                    <a:gs pos="0">
                      <a:srgbClr val="FFFFFF"/>
                    </a:gs>
                    <a:gs pos="100000">
                      <a:schemeClr val="accent5"/>
                    </a:gs>
                  </a:gsLst>
                  <a:lin ang="16200000" scaled="0"/>
                </a:gradFill>
                <a:latin typeface="Alibaba PuHuiTi 3.0 55 Regular"/>
                <a:ea typeface="Alibaba PuHuiTi 3.0 55 Regular"/>
                <a:cs typeface="Alibaba PuHuiTi 3.0 55 Regular"/>
                <a:sym typeface="Alibaba PuHuiTi 3.0 55 Regular"/>
              </a:defRPr>
            </a:lvl1pPr>
          </a:lstStyle>
          <a:p>
            <a:pPr/>
            <a:r>
              <a:t>知途 TOURIS</a:t>
            </a:r>
          </a:p>
        </p:txBody>
      </p:sp>
      <p:sp>
        <p:nvSpPr>
          <p:cNvPr id="96" name="TextBox 6"/>
          <p:cNvSpPr txBox="1"/>
          <p:nvPr/>
        </p:nvSpPr>
        <p:spPr>
          <a:xfrm>
            <a:off x="4029905" y="3987318"/>
            <a:ext cx="4132190" cy="3175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a:gradFill flip="none" rotWithShape="1">
                  <a:gsLst>
                    <a:gs pos="0">
                      <a:schemeClr val="accent1">
                        <a:lumOff val="23725"/>
                      </a:schemeClr>
                    </a:gs>
                    <a:gs pos="100000">
                      <a:srgbClr val="FFFFFF"/>
                    </a:gs>
                  </a:gsLst>
                  <a:lin ang="16200000" scaled="0"/>
                </a:gradFill>
                <a:latin typeface="FZYaYiHei GB18030L2 R"/>
                <a:ea typeface="FZYaYiHei GB18030L2 R"/>
                <a:cs typeface="FZYaYiHei GB18030L2 R"/>
                <a:sym typeface="FZYaYiHei GB18030L2 R"/>
              </a:defRPr>
            </a:lvl1pPr>
          </a:lstStyle>
          <a:p>
            <a:pPr/>
            <a:r>
              <a:t>知途 TOURIS：记忆驱动的旅行规划引擎</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AutoShape 2"/>
          <p:cNvSpPr/>
          <p:nvPr/>
        </p:nvSpPr>
        <p:spPr>
          <a:xfrm>
            <a:off x="-2" y="0"/>
            <a:ext cx="12188956" cy="6858000"/>
          </a:xfrm>
          <a:prstGeom prst="rect">
            <a:avLst/>
          </a:prstGeom>
          <a:solidFill>
            <a:srgbClr val="F1F3F5"/>
          </a:solidFill>
          <a:ln w="12700">
            <a:miter lim="400000"/>
          </a:ln>
        </p:spPr>
        <p:txBody>
          <a:bodyPr lIns="45718" tIns="45718" rIns="45718" bIns="45718"/>
          <a:lstStyle/>
          <a:p>
            <a:pPr/>
          </a:p>
        </p:txBody>
      </p:sp>
      <p:sp>
        <p:nvSpPr>
          <p:cNvPr id="101" name="TextBox 3"/>
          <p:cNvSpPr txBox="1"/>
          <p:nvPr/>
        </p:nvSpPr>
        <p:spPr>
          <a:xfrm>
            <a:off x="457085" y="2548977"/>
            <a:ext cx="470181" cy="1397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900">
                <a:solidFill>
                  <a:srgbClr val="0A1F3D">
                    <a:alpha val="45098"/>
                  </a:srgbClr>
                </a:solidFill>
                <a:latin typeface="Inter"/>
                <a:ea typeface="Inter"/>
                <a:cs typeface="Inter"/>
                <a:sym typeface="Inter"/>
              </a:defRPr>
            </a:lvl1pPr>
          </a:lstStyle>
          <a:p>
            <a:pPr/>
            <a:r>
              <a:t>Contents</a:t>
            </a:r>
          </a:p>
        </p:txBody>
      </p:sp>
      <p:sp>
        <p:nvSpPr>
          <p:cNvPr id="102" name="TextBox 4"/>
          <p:cNvSpPr txBox="1"/>
          <p:nvPr/>
        </p:nvSpPr>
        <p:spPr>
          <a:xfrm>
            <a:off x="457086" y="2920452"/>
            <a:ext cx="1079501" cy="749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b="1" sz="4200">
                <a:solidFill>
                  <a:srgbClr val="0A1F3D"/>
                </a:solidFill>
                <a:latin typeface="Alibaba PuHuiTi 3.0 55 Regular"/>
                <a:ea typeface="Alibaba PuHuiTi 3.0 55 Regular"/>
                <a:cs typeface="Alibaba PuHuiTi 3.0 55 Regular"/>
                <a:sym typeface="Alibaba PuHuiTi 3.0 55 Regular"/>
              </a:defRPr>
            </a:lvl1pPr>
          </a:lstStyle>
          <a:p>
            <a:pPr/>
            <a:r>
              <a:t>目录</a:t>
            </a:r>
          </a:p>
        </p:txBody>
      </p:sp>
      <p:sp>
        <p:nvSpPr>
          <p:cNvPr id="103" name="AutoShape 5"/>
          <p:cNvSpPr/>
          <p:nvPr/>
        </p:nvSpPr>
        <p:spPr>
          <a:xfrm>
            <a:off x="457086" y="3783357"/>
            <a:ext cx="304726" cy="19052"/>
          </a:xfrm>
          <a:prstGeom prst="rect">
            <a:avLst/>
          </a:prstGeom>
          <a:solidFill>
            <a:srgbClr val="5B8CB8"/>
          </a:solidFill>
          <a:ln w="12700">
            <a:miter lim="400000"/>
          </a:ln>
        </p:spPr>
        <p:txBody>
          <a:bodyPr lIns="45718" tIns="45718" rIns="45718" bIns="45718"/>
          <a:lstStyle/>
          <a:p>
            <a:pPr/>
          </a:p>
        </p:txBody>
      </p:sp>
      <p:sp>
        <p:nvSpPr>
          <p:cNvPr id="104" name="TextBox 6"/>
          <p:cNvSpPr txBox="1"/>
          <p:nvPr/>
        </p:nvSpPr>
        <p:spPr>
          <a:xfrm>
            <a:off x="457086" y="4116732"/>
            <a:ext cx="2759026"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200">
                <a:solidFill>
                  <a:srgbClr val="0A1F3D">
                    <a:alpha val="65098"/>
                  </a:srgbClr>
                </a:solidFill>
                <a:latin typeface="FZYaYiHei GB18030L2 R"/>
                <a:ea typeface="FZYaYiHei GB18030L2 R"/>
                <a:cs typeface="FZYaYiHei GB18030L2 R"/>
                <a:sym typeface="FZYaYiHei GB18030L2 R"/>
              </a:defRPr>
            </a:lvl1pPr>
          </a:lstStyle>
          <a:p>
            <a:pPr/>
            <a:r>
              <a:t>知途 TOURIS：记忆驱动的旅行规划引擎</a:t>
            </a:r>
          </a:p>
        </p:txBody>
      </p:sp>
      <p:sp>
        <p:nvSpPr>
          <p:cNvPr id="105" name="AutoShape 7"/>
          <p:cNvSpPr/>
          <p:nvPr/>
        </p:nvSpPr>
        <p:spPr>
          <a:xfrm>
            <a:off x="5421493" y="2063500"/>
            <a:ext cx="6310224" cy="9528"/>
          </a:xfrm>
          <a:prstGeom prst="line">
            <a:avLst/>
          </a:prstGeom>
          <a:ln>
            <a:solidFill>
              <a:srgbClr val="C5CDD6"/>
            </a:solidFill>
          </a:ln>
        </p:spPr>
        <p:txBody>
          <a:bodyPr lIns="45718" tIns="45718" rIns="45718" bIns="45718"/>
          <a:lstStyle/>
          <a:p>
            <a:pPr/>
          </a:p>
        </p:txBody>
      </p:sp>
      <p:sp>
        <p:nvSpPr>
          <p:cNvPr id="106" name="TextBox 8"/>
          <p:cNvSpPr txBox="1"/>
          <p:nvPr/>
        </p:nvSpPr>
        <p:spPr>
          <a:xfrm>
            <a:off x="5421493" y="1657797"/>
            <a:ext cx="153963" cy="1524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000">
                <a:solidFill>
                  <a:srgbClr val="0A1F3D">
                    <a:alpha val="34901"/>
                  </a:srgbClr>
                </a:solidFill>
                <a:latin typeface="Inter"/>
                <a:ea typeface="Inter"/>
                <a:cs typeface="Inter"/>
                <a:sym typeface="Inter"/>
              </a:defRPr>
            </a:lvl1pPr>
          </a:lstStyle>
          <a:p>
            <a:pPr/>
            <a:r>
              <a:t>01</a:t>
            </a:r>
          </a:p>
        </p:txBody>
      </p:sp>
      <p:sp>
        <p:nvSpPr>
          <p:cNvPr id="107" name="TextBox 9"/>
          <p:cNvSpPr txBox="1"/>
          <p:nvPr/>
        </p:nvSpPr>
        <p:spPr>
          <a:xfrm>
            <a:off x="5878579" y="1581596"/>
            <a:ext cx="927101" cy="3175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a:solidFill>
                  <a:srgbClr val="0A1F3D"/>
                </a:solidFill>
                <a:latin typeface="FZYaYiHei GB18030L2 R"/>
                <a:ea typeface="FZYaYiHei GB18030L2 R"/>
                <a:cs typeface="FZYaYiHei GB18030L2 R"/>
                <a:sym typeface="FZYaYiHei GB18030L2 R"/>
              </a:defRPr>
            </a:lvl1pPr>
          </a:lstStyle>
          <a:p>
            <a:pPr/>
            <a:r>
              <a:t>用户痛点</a:t>
            </a:r>
          </a:p>
        </p:txBody>
      </p:sp>
      <p:sp>
        <p:nvSpPr>
          <p:cNvPr id="108" name="AutoShape 10"/>
          <p:cNvSpPr/>
          <p:nvPr/>
        </p:nvSpPr>
        <p:spPr>
          <a:xfrm>
            <a:off x="5421493" y="3679328"/>
            <a:ext cx="6310224" cy="9527"/>
          </a:xfrm>
          <a:prstGeom prst="line">
            <a:avLst/>
          </a:prstGeom>
          <a:ln>
            <a:solidFill>
              <a:srgbClr val="C5CDD6"/>
            </a:solidFill>
          </a:ln>
        </p:spPr>
        <p:txBody>
          <a:bodyPr lIns="45718" tIns="45718" rIns="45718" bIns="45718"/>
          <a:lstStyle/>
          <a:p>
            <a:pPr/>
          </a:p>
        </p:txBody>
      </p:sp>
      <p:sp>
        <p:nvSpPr>
          <p:cNvPr id="109" name="TextBox 11"/>
          <p:cNvSpPr txBox="1"/>
          <p:nvPr/>
        </p:nvSpPr>
        <p:spPr>
          <a:xfrm>
            <a:off x="5421493" y="3273623"/>
            <a:ext cx="153963" cy="1524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000">
                <a:solidFill>
                  <a:srgbClr val="0A1F3D">
                    <a:alpha val="34901"/>
                  </a:srgbClr>
                </a:solidFill>
                <a:latin typeface="Inter"/>
                <a:ea typeface="Inter"/>
                <a:cs typeface="Inter"/>
                <a:sym typeface="Inter"/>
              </a:defRPr>
            </a:lvl1pPr>
          </a:lstStyle>
          <a:p>
            <a:pPr/>
            <a:r>
              <a:t>02</a:t>
            </a:r>
          </a:p>
        </p:txBody>
      </p:sp>
      <p:sp>
        <p:nvSpPr>
          <p:cNvPr id="110" name="TextBox 12"/>
          <p:cNvSpPr txBox="1"/>
          <p:nvPr/>
        </p:nvSpPr>
        <p:spPr>
          <a:xfrm>
            <a:off x="5878579" y="3197423"/>
            <a:ext cx="927101" cy="3175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a:solidFill>
                  <a:srgbClr val="0A1F3D"/>
                </a:solidFill>
                <a:latin typeface="FZYaYiHei GB18030L2 R"/>
                <a:ea typeface="FZYaYiHei GB18030L2 R"/>
                <a:cs typeface="FZYaYiHei GB18030L2 R"/>
                <a:sym typeface="FZYaYiHei GB18030L2 R"/>
              </a:defRPr>
            </a:lvl1pPr>
          </a:lstStyle>
          <a:p>
            <a:pPr/>
            <a:r>
              <a:t>产品介绍</a:t>
            </a:r>
          </a:p>
        </p:txBody>
      </p:sp>
      <p:sp>
        <p:nvSpPr>
          <p:cNvPr id="111" name="AutoShape 13"/>
          <p:cNvSpPr/>
          <p:nvPr/>
        </p:nvSpPr>
        <p:spPr>
          <a:xfrm>
            <a:off x="5421493" y="5295155"/>
            <a:ext cx="6310224" cy="9527"/>
          </a:xfrm>
          <a:prstGeom prst="line">
            <a:avLst/>
          </a:prstGeom>
          <a:ln>
            <a:solidFill>
              <a:srgbClr val="C5CDD6"/>
            </a:solidFill>
          </a:ln>
        </p:spPr>
        <p:txBody>
          <a:bodyPr lIns="45718" tIns="45718" rIns="45718" bIns="45718"/>
          <a:lstStyle/>
          <a:p>
            <a:pPr/>
          </a:p>
        </p:txBody>
      </p:sp>
      <p:sp>
        <p:nvSpPr>
          <p:cNvPr id="112" name="TextBox 14"/>
          <p:cNvSpPr txBox="1"/>
          <p:nvPr/>
        </p:nvSpPr>
        <p:spPr>
          <a:xfrm>
            <a:off x="5421493" y="4889450"/>
            <a:ext cx="153963" cy="1524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000">
                <a:solidFill>
                  <a:srgbClr val="0A1F3D">
                    <a:alpha val="34901"/>
                  </a:srgbClr>
                </a:solidFill>
                <a:latin typeface="Inter"/>
                <a:ea typeface="Inter"/>
                <a:cs typeface="Inter"/>
                <a:sym typeface="Inter"/>
              </a:defRPr>
            </a:lvl1pPr>
          </a:lstStyle>
          <a:p>
            <a:pPr/>
            <a:r>
              <a:t>03</a:t>
            </a:r>
          </a:p>
        </p:txBody>
      </p:sp>
      <p:sp>
        <p:nvSpPr>
          <p:cNvPr id="113" name="TextBox 15"/>
          <p:cNvSpPr txBox="1"/>
          <p:nvPr/>
        </p:nvSpPr>
        <p:spPr>
          <a:xfrm>
            <a:off x="5878579" y="4813250"/>
            <a:ext cx="2298701" cy="3175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a:solidFill>
                  <a:srgbClr val="0A1F3D"/>
                </a:solidFill>
                <a:latin typeface="FZYaYiHei GB18030L2 R"/>
                <a:ea typeface="FZYaYiHei GB18030L2 R"/>
                <a:cs typeface="FZYaYiHei GB18030L2 R"/>
                <a:sym typeface="FZYaYiHei GB18030L2 R"/>
              </a:defRPr>
            </a:lvl1pPr>
          </a:lstStyle>
          <a:p>
            <a:pPr/>
            <a:r>
              <a:t>记忆护城河与数据飞轮</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17" name="3389551912cddc583cbda9b2123435db.jpg" descr="3389551912cddc583cbda9b2123435db.jpg"/>
          <p:cNvPicPr>
            <a:picLocks noChangeAspect="1"/>
          </p:cNvPicPr>
          <p:nvPr/>
        </p:nvPicPr>
        <p:blipFill>
          <a:blip r:embed="rId3">
            <a:extLst/>
          </a:blip>
          <a:stretch>
            <a:fillRect/>
          </a:stretch>
        </p:blipFill>
        <p:spPr>
          <a:xfrm>
            <a:off x="-408322" y="-865933"/>
            <a:ext cx="13008643" cy="8669043"/>
          </a:xfrm>
          <a:prstGeom prst="rect">
            <a:avLst/>
          </a:prstGeom>
          <a:ln w="12700">
            <a:miter lim="400000"/>
          </a:ln>
        </p:spPr>
      </p:pic>
      <p:sp>
        <p:nvSpPr>
          <p:cNvPr id="118" name="TextBox 6"/>
          <p:cNvSpPr txBox="1"/>
          <p:nvPr/>
        </p:nvSpPr>
        <p:spPr>
          <a:xfrm>
            <a:off x="4819648" y="829104"/>
            <a:ext cx="2552701" cy="889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defRPr b="1" sz="5000">
                <a:solidFill>
                  <a:schemeClr val="accent2">
                    <a:satOff val="-4966"/>
                    <a:lumOff val="-10549"/>
                  </a:schemeClr>
                </a:solidFill>
                <a:latin typeface="Alibaba PuHuiTi 3.0 55 Regular"/>
                <a:ea typeface="Alibaba PuHuiTi 3.0 55 Regular"/>
                <a:cs typeface="Alibaba PuHuiTi 3.0 55 Regular"/>
                <a:sym typeface="Alibaba PuHuiTi 3.0 55 Regular"/>
              </a:defRPr>
            </a:lvl1pPr>
          </a:lstStyle>
          <a:p>
            <a:pPr/>
            <a:r>
              <a:t>用户痛点</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AutoShape 3"/>
          <p:cNvSpPr/>
          <p:nvPr/>
        </p:nvSpPr>
        <p:spPr>
          <a:xfrm>
            <a:off x="1522" y="-1"/>
            <a:ext cx="12188956" cy="6858001"/>
          </a:xfrm>
          <a:prstGeom prst="rect">
            <a:avLst/>
          </a:prstGeom>
          <a:solidFill>
            <a:srgbClr val="F1F3F5"/>
          </a:solidFill>
          <a:ln w="12700">
            <a:miter lim="400000"/>
          </a:ln>
        </p:spPr>
        <p:txBody>
          <a:bodyPr lIns="45718" tIns="45718" rIns="45718" bIns="45718"/>
          <a:lstStyle/>
          <a:p>
            <a:pPr/>
          </a:p>
        </p:txBody>
      </p:sp>
      <p:sp>
        <p:nvSpPr>
          <p:cNvPr id="123" name="TextBox 4"/>
          <p:cNvSpPr txBox="1"/>
          <p:nvPr/>
        </p:nvSpPr>
        <p:spPr>
          <a:xfrm>
            <a:off x="457085" y="476250"/>
            <a:ext cx="1077623" cy="1397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900">
                <a:solidFill>
                  <a:srgbClr val="0A1F3D">
                    <a:alpha val="50195"/>
                  </a:srgbClr>
                </a:solidFill>
                <a:latin typeface="Alibaba PuHuiTi 3.0 55 Regular"/>
                <a:ea typeface="Alibaba PuHuiTi 3.0 55 Regular"/>
                <a:cs typeface="Alibaba PuHuiTi 3.0 55 Regular"/>
                <a:sym typeface="Alibaba PuHuiTi 3.0 55 Regular"/>
              </a:defRPr>
            </a:lvl1pPr>
          </a:lstStyle>
          <a:p>
            <a:pPr/>
            <a:r>
              <a:t>USER PAIN POINTS</a:t>
            </a:r>
          </a:p>
        </p:txBody>
      </p:sp>
      <p:sp>
        <p:nvSpPr>
          <p:cNvPr id="124" name="TextBox 5"/>
          <p:cNvSpPr txBox="1"/>
          <p:nvPr/>
        </p:nvSpPr>
        <p:spPr>
          <a:xfrm>
            <a:off x="457085" y="752475"/>
            <a:ext cx="6039496" cy="5080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b="1" sz="2800">
                <a:solidFill>
                  <a:srgbClr val="0A1F3D"/>
                </a:solidFill>
                <a:latin typeface="Alibaba PuHuiTi 3.0 55 Regular"/>
                <a:ea typeface="Alibaba PuHuiTi 3.0 55 Regular"/>
                <a:cs typeface="Alibaba PuHuiTi 3.0 55 Regular"/>
                <a:sym typeface="Alibaba PuHuiTi 3.0 55 Regular"/>
              </a:defRPr>
            </a:lvl1pPr>
          </a:lstStyle>
          <a:p>
            <a:pPr/>
            <a:r>
              <a:t>旅行规划的"失忆"困境与真实用户痛点</a:t>
            </a:r>
          </a:p>
        </p:txBody>
      </p:sp>
      <p:sp>
        <p:nvSpPr>
          <p:cNvPr id="125" name="AutoShape 6"/>
          <p:cNvSpPr/>
          <p:nvPr/>
        </p:nvSpPr>
        <p:spPr>
          <a:xfrm>
            <a:off x="457086" y="1310579"/>
            <a:ext cx="9523" cy="649488"/>
          </a:xfrm>
          <a:prstGeom prst="line">
            <a:avLst/>
          </a:prstGeom>
          <a:ln>
            <a:solidFill>
              <a:srgbClr val="5B8CB8">
                <a:alpha val="78039"/>
              </a:srgbClr>
            </a:solidFill>
          </a:ln>
        </p:spPr>
        <p:txBody>
          <a:bodyPr lIns="45718" tIns="45718" rIns="45718" bIns="45718"/>
          <a:lstStyle/>
          <a:p>
            <a:pPr/>
          </a:p>
        </p:txBody>
      </p:sp>
      <p:sp>
        <p:nvSpPr>
          <p:cNvPr id="126" name="TextBox 7"/>
          <p:cNvSpPr txBox="1"/>
          <p:nvPr/>
        </p:nvSpPr>
        <p:spPr>
          <a:xfrm>
            <a:off x="580879" y="1348679"/>
            <a:ext cx="1160807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i="1" sz="1600">
                <a:solidFill>
                  <a:srgbClr val="0A1F3D">
                    <a:alpha val="78039"/>
                  </a:srgbClr>
                </a:solidFill>
                <a:latin typeface="FZYaYiHei GB18030L2 R"/>
                <a:ea typeface="FZYaYiHei GB18030L2 R"/>
                <a:cs typeface="FZYaYiHei GB18030L2 R"/>
                <a:sym typeface="FZYaYiHei GB18030L2 R"/>
              </a:defRPr>
            </a:pPr>
            <a:r>
              <a:t>现有旅行工具将每次规划视为孤立事件，导致用户反复经历信息过载与决策疲劳，无法沉淀个人偏好，旅行体验难以实现</a:t>
            </a:r>
            <a:endParaRPr sz="1100"/>
          </a:p>
          <a:p>
            <a:pPr>
              <a:defRPr i="1" sz="1600">
                <a:solidFill>
                  <a:srgbClr val="0A1F3D">
                    <a:alpha val="78039"/>
                  </a:srgbClr>
                </a:solidFill>
                <a:latin typeface="FZYaYiHei GB18030L2 R"/>
                <a:ea typeface="FZYaYiHei GB18030L2 R"/>
                <a:cs typeface="FZYaYiHei GB18030L2 R"/>
                <a:sym typeface="FZYaYiHei GB18030L2 R"/>
              </a:defRPr>
            </a:pPr>
            <a:r>
              <a:t>真正的个性化与持续优化。</a:t>
            </a:r>
          </a:p>
        </p:txBody>
      </p:sp>
      <p:pic>
        <p:nvPicPr>
          <p:cNvPr id="127" name="Picture 8" descr="Picture 8"/>
          <p:cNvPicPr>
            <a:picLocks noChangeAspect="1"/>
          </p:cNvPicPr>
          <p:nvPr/>
        </p:nvPicPr>
        <p:blipFill>
          <a:blip r:embed="rId3">
            <a:extLst/>
          </a:blip>
          <a:stretch>
            <a:fillRect/>
          </a:stretch>
        </p:blipFill>
        <p:spPr>
          <a:xfrm>
            <a:off x="457086" y="2437358"/>
            <a:ext cx="4570858" cy="3429002"/>
          </a:xfrm>
          <a:prstGeom prst="rect">
            <a:avLst/>
          </a:prstGeom>
          <a:ln w="12700">
            <a:miter lim="400000"/>
          </a:ln>
        </p:spPr>
      </p:pic>
      <p:sp>
        <p:nvSpPr>
          <p:cNvPr id="128" name="TextBox 9"/>
          <p:cNvSpPr txBox="1"/>
          <p:nvPr/>
        </p:nvSpPr>
        <p:spPr>
          <a:xfrm>
            <a:off x="457086" y="5961607"/>
            <a:ext cx="3098801" cy="1651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900">
                <a:solidFill>
                  <a:srgbClr val="0A1F3D">
                    <a:alpha val="50195"/>
                  </a:srgbClr>
                </a:solidFill>
                <a:latin typeface="Alibaba PuHuiTi 3.0 55 Regular"/>
                <a:ea typeface="Alibaba PuHuiTi 3.0 55 Regular"/>
                <a:cs typeface="Alibaba PuHuiTi 3.0 55 Regular"/>
                <a:sym typeface="Alibaba PuHuiTi 3.0 55 Regular"/>
              </a:defRPr>
            </a:lvl1pPr>
          </a:lstStyle>
          <a:p>
            <a:pPr/>
            <a:r>
              <a:t>用户在多平台间反复检索旅行信息，个人偏好无法跨应用沉淀</a:t>
            </a:r>
          </a:p>
        </p:txBody>
      </p:sp>
      <p:sp>
        <p:nvSpPr>
          <p:cNvPr id="129" name="TextBox 10"/>
          <p:cNvSpPr txBox="1"/>
          <p:nvPr/>
        </p:nvSpPr>
        <p:spPr>
          <a:xfrm>
            <a:off x="5274893" y="2572343"/>
            <a:ext cx="139837" cy="1397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900">
                <a:solidFill>
                  <a:srgbClr val="0A1F3D">
                    <a:alpha val="40000"/>
                  </a:srgbClr>
                </a:solidFill>
                <a:latin typeface="Inter"/>
                <a:ea typeface="Inter"/>
                <a:cs typeface="Inter"/>
                <a:sym typeface="Inter"/>
              </a:defRPr>
            </a:lvl1pPr>
          </a:lstStyle>
          <a:p>
            <a:pPr/>
            <a:r>
              <a:t>01</a:t>
            </a:r>
          </a:p>
        </p:txBody>
      </p:sp>
      <p:sp>
        <p:nvSpPr>
          <p:cNvPr id="130" name="TextBox 11"/>
          <p:cNvSpPr txBox="1"/>
          <p:nvPr/>
        </p:nvSpPr>
        <p:spPr>
          <a:xfrm>
            <a:off x="5611903" y="2581868"/>
            <a:ext cx="5770858"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0A1F3D">
                    <a:alpha val="87843"/>
                  </a:srgbClr>
                </a:solidFill>
                <a:latin typeface="FZYaYiHei GB18030L2 R"/>
                <a:ea typeface="FZYaYiHei GB18030L2 R"/>
                <a:cs typeface="FZYaYiHei GB18030L2 R"/>
                <a:sym typeface="FZYaYiHei GB18030L2 R"/>
              </a:defRPr>
            </a:lvl1pPr>
          </a:lstStyle>
          <a:p>
            <a:pPr/>
            <a:r>
              <a:t>你是否有旅游经验不足，没有旅程攻略的痛点？</a:t>
            </a:r>
          </a:p>
        </p:txBody>
      </p:sp>
      <p:sp>
        <p:nvSpPr>
          <p:cNvPr id="131" name="TextBox 12"/>
          <p:cNvSpPr txBox="1"/>
          <p:nvPr/>
        </p:nvSpPr>
        <p:spPr>
          <a:xfrm>
            <a:off x="5611903" y="3067643"/>
            <a:ext cx="1708170" cy="1651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900">
                <a:solidFill>
                  <a:srgbClr val="0A1F3D">
                    <a:alpha val="50195"/>
                  </a:srgbClr>
                </a:solidFill>
                <a:latin typeface="Alibaba PuHuiTi 3.0 55 Regular"/>
                <a:ea typeface="Alibaba PuHuiTi 3.0 55 Regular"/>
                <a:cs typeface="Alibaba PuHuiTi 3.0 55 Regular"/>
                <a:sym typeface="Alibaba PuHuiTi 3.0 55 Regular"/>
              </a:defRPr>
            </a:lvl1pPr>
          </a:lstStyle>
          <a:p>
            <a:pPr/>
            <a:r>
              <a:t>信息检索成本高 · 跨平台数据孤岛</a:t>
            </a:r>
          </a:p>
        </p:txBody>
      </p:sp>
      <p:sp>
        <p:nvSpPr>
          <p:cNvPr id="132" name="TextBox 13"/>
          <p:cNvSpPr txBox="1"/>
          <p:nvPr/>
        </p:nvSpPr>
        <p:spPr>
          <a:xfrm>
            <a:off x="5274893" y="3658789"/>
            <a:ext cx="139837" cy="1397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900">
                <a:solidFill>
                  <a:srgbClr val="0A1F3D">
                    <a:alpha val="40000"/>
                  </a:srgbClr>
                </a:solidFill>
                <a:latin typeface="Inter"/>
                <a:ea typeface="Inter"/>
                <a:cs typeface="Inter"/>
                <a:sym typeface="Inter"/>
              </a:defRPr>
            </a:lvl1pPr>
          </a:lstStyle>
          <a:p>
            <a:pPr/>
            <a:r>
              <a:t>02</a:t>
            </a:r>
          </a:p>
        </p:txBody>
      </p:sp>
      <p:sp>
        <p:nvSpPr>
          <p:cNvPr id="133" name="TextBox 14"/>
          <p:cNvSpPr txBox="1"/>
          <p:nvPr/>
        </p:nvSpPr>
        <p:spPr>
          <a:xfrm>
            <a:off x="5611903" y="3668314"/>
            <a:ext cx="5757467"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0A1F3D">
                    <a:alpha val="87843"/>
                  </a:srgbClr>
                </a:solidFill>
                <a:latin typeface="FZYaYiHei GB18030L2 R"/>
                <a:ea typeface="FZYaYiHei GB18030L2 R"/>
                <a:cs typeface="FZYaYiHei GB18030L2 R"/>
                <a:sym typeface="FZYaYiHei GB18030L2 R"/>
              </a:defRPr>
            </a:lvl1pPr>
          </a:lstStyle>
          <a:p>
            <a:pPr/>
            <a:r>
              <a:t>你是否找不到合适自己的旅行方案？</a:t>
            </a:r>
          </a:p>
        </p:txBody>
      </p:sp>
      <p:sp>
        <p:nvSpPr>
          <p:cNvPr id="134" name="TextBox 15"/>
          <p:cNvSpPr txBox="1"/>
          <p:nvPr/>
        </p:nvSpPr>
        <p:spPr>
          <a:xfrm>
            <a:off x="5611903" y="4154087"/>
            <a:ext cx="1708170" cy="1651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900">
                <a:solidFill>
                  <a:srgbClr val="0A1F3D">
                    <a:alpha val="50195"/>
                  </a:srgbClr>
                </a:solidFill>
                <a:latin typeface="Alibaba PuHuiTi 3.0 55 Regular"/>
                <a:ea typeface="Alibaba PuHuiTi 3.0 55 Regular"/>
                <a:cs typeface="Alibaba PuHuiTi 3.0 55 Regular"/>
                <a:sym typeface="Alibaba PuHuiTi 3.0 55 Regular"/>
              </a:defRPr>
            </a:lvl1pPr>
          </a:lstStyle>
          <a:p>
            <a:pPr/>
            <a:r>
              <a:t>标准化推荐 · 个性化节奏需求错配</a:t>
            </a:r>
          </a:p>
        </p:txBody>
      </p:sp>
      <p:sp>
        <p:nvSpPr>
          <p:cNvPr id="135" name="TextBox 16"/>
          <p:cNvSpPr txBox="1"/>
          <p:nvPr/>
        </p:nvSpPr>
        <p:spPr>
          <a:xfrm>
            <a:off x="5274893" y="4745233"/>
            <a:ext cx="139837" cy="1397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900">
                <a:solidFill>
                  <a:srgbClr val="0A1F3D">
                    <a:alpha val="40000"/>
                  </a:srgbClr>
                </a:solidFill>
                <a:latin typeface="Inter"/>
                <a:ea typeface="Inter"/>
                <a:cs typeface="Inter"/>
                <a:sym typeface="Inter"/>
              </a:defRPr>
            </a:lvl1pPr>
          </a:lstStyle>
          <a:p>
            <a:pPr/>
            <a:r>
              <a:t>03</a:t>
            </a:r>
          </a:p>
        </p:txBody>
      </p:sp>
      <p:sp>
        <p:nvSpPr>
          <p:cNvPr id="136" name="TextBox 17"/>
          <p:cNvSpPr txBox="1"/>
          <p:nvPr/>
        </p:nvSpPr>
        <p:spPr>
          <a:xfrm>
            <a:off x="5611903" y="4754759"/>
            <a:ext cx="5757467"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0A1F3D">
                    <a:alpha val="87843"/>
                  </a:srgbClr>
                </a:solidFill>
                <a:latin typeface="FZYaYiHei GB18030L2 R"/>
                <a:ea typeface="FZYaYiHei GB18030L2 R"/>
                <a:cs typeface="FZYaYiHei GB18030L2 R"/>
                <a:sym typeface="FZYaYiHei GB18030L2 R"/>
              </a:defRPr>
            </a:lvl1pPr>
          </a:lstStyle>
          <a:p>
            <a:pPr/>
            <a:r>
              <a:t>你是否有自己想去的景点，但没有相应的攻略和经验？</a:t>
            </a:r>
          </a:p>
        </p:txBody>
      </p:sp>
      <p:sp>
        <p:nvSpPr>
          <p:cNvPr id="137" name="TextBox 18"/>
          <p:cNvSpPr txBox="1"/>
          <p:nvPr/>
        </p:nvSpPr>
        <p:spPr>
          <a:xfrm>
            <a:off x="5611903" y="5240533"/>
            <a:ext cx="1708170" cy="1651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900">
                <a:solidFill>
                  <a:srgbClr val="0A1F3D">
                    <a:alpha val="50195"/>
                  </a:srgbClr>
                </a:solidFill>
                <a:latin typeface="Alibaba PuHuiTi 3.0 55 Regular"/>
                <a:ea typeface="Alibaba PuHuiTi 3.0 55 Regular"/>
                <a:cs typeface="Alibaba PuHuiTi 3.0 55 Regular"/>
                <a:sym typeface="Alibaba PuHuiTi 3.0 55 Regular"/>
              </a:defRPr>
            </a:lvl1pPr>
          </a:lstStyle>
          <a:p>
            <a:pPr/>
            <a:r>
              <a:t>空间地理约束 · 时间排布算法缺失</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1" name="1a228a5afd40652bd48aff1e3bcfdc51.jpg" descr="1a228a5afd40652bd48aff1e3bcfdc51.jpg"/>
          <p:cNvPicPr>
            <a:picLocks noChangeAspect="1"/>
          </p:cNvPicPr>
          <p:nvPr/>
        </p:nvPicPr>
        <p:blipFill>
          <a:blip r:embed="rId3">
            <a:extLst/>
          </a:blip>
          <a:stretch>
            <a:fillRect/>
          </a:stretch>
        </p:blipFill>
        <p:spPr>
          <a:xfrm>
            <a:off x="-459455" y="-668160"/>
            <a:ext cx="13110910" cy="8194319"/>
          </a:xfrm>
          <a:prstGeom prst="rect">
            <a:avLst/>
          </a:prstGeom>
          <a:ln w="12700">
            <a:miter lim="400000"/>
          </a:ln>
        </p:spPr>
      </p:pic>
      <p:sp>
        <p:nvSpPr>
          <p:cNvPr id="142" name="知途TOURIS 产品介绍"/>
          <p:cNvSpPr txBox="1"/>
          <p:nvPr/>
        </p:nvSpPr>
        <p:spPr>
          <a:xfrm>
            <a:off x="2856836" y="1194992"/>
            <a:ext cx="6478324" cy="9804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b="1" sz="5000">
                <a:gradFill flip="none" rotWithShape="1">
                  <a:gsLst>
                    <a:gs pos="0">
                      <a:srgbClr val="FFFFFF"/>
                    </a:gs>
                    <a:gs pos="100000">
                      <a:schemeClr val="accent6"/>
                    </a:gs>
                  </a:gsLst>
                  <a:lin ang="16200000" scaled="0"/>
                </a:gradFill>
                <a:latin typeface="FZYaYiHei GB18030L2 R"/>
                <a:ea typeface="FZYaYiHei GB18030L2 R"/>
                <a:cs typeface="FZYaYiHei GB18030L2 R"/>
                <a:sym typeface="FZYaYiHei GB18030L2 R"/>
              </a:defRPr>
            </a:lvl1pPr>
          </a:lstStyle>
          <a:p>
            <a:pPr/>
            <a:r>
              <a:t>知途TOURIS 产品介绍</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6" name="Screenshot 2026-09-13 at 13.29.38.png" descr="Screenshot 2026-09-13 at 13.29.38.png"/>
          <p:cNvPicPr>
            <a:picLocks noChangeAspect="1"/>
          </p:cNvPicPr>
          <p:nvPr/>
        </p:nvPicPr>
        <p:blipFill>
          <a:blip r:embed="rId3">
            <a:extLst/>
          </a:blip>
          <a:stretch>
            <a:fillRect/>
          </a:stretch>
        </p:blipFill>
        <p:spPr>
          <a:xfrm>
            <a:off x="225413" y="1007416"/>
            <a:ext cx="6097666" cy="3811041"/>
          </a:xfrm>
          <a:prstGeom prst="rect">
            <a:avLst/>
          </a:prstGeom>
          <a:ln w="12700">
            <a:miter lim="400000"/>
          </a:ln>
        </p:spPr>
      </p:pic>
      <p:sp>
        <p:nvSpPr>
          <p:cNvPr id="147" name="TextBox 5"/>
          <p:cNvSpPr txBox="1"/>
          <p:nvPr/>
        </p:nvSpPr>
        <p:spPr>
          <a:xfrm>
            <a:off x="6627741" y="1133475"/>
            <a:ext cx="4203701" cy="5334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b="1" sz="3000">
                <a:solidFill>
                  <a:srgbClr val="1E293B"/>
                </a:solidFill>
                <a:latin typeface="Times New Roman"/>
                <a:ea typeface="Times New Roman"/>
                <a:cs typeface="Times New Roman"/>
                <a:sym typeface="Times New Roman"/>
              </a:defRPr>
            </a:lvl1pPr>
          </a:lstStyle>
          <a:p>
            <a:pPr/>
            <a:r>
              <a:t>旅行不该每次都从零开始</a:t>
            </a:r>
          </a:p>
        </p:txBody>
      </p:sp>
      <p:sp>
        <p:nvSpPr>
          <p:cNvPr id="148" name="TextBox 6"/>
          <p:cNvSpPr txBox="1"/>
          <p:nvPr/>
        </p:nvSpPr>
        <p:spPr>
          <a:xfrm>
            <a:off x="6627741" y="1924049"/>
            <a:ext cx="5075559" cy="69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300">
                <a:solidFill>
                  <a:srgbClr val="475569"/>
                </a:solidFill>
                <a:latin typeface="Times New Roman"/>
                <a:ea typeface="Times New Roman"/>
                <a:cs typeface="Times New Roman"/>
                <a:sym typeface="Times New Roman"/>
              </a:defRPr>
            </a:pPr>
            <a:r>
              <a:t>传统规划模式下，用户每次出行都需重新搜索、筛选与决策，过往</a:t>
            </a:r>
            <a:endParaRPr sz="1100"/>
          </a:p>
          <a:p>
            <a:pPr>
              <a:defRPr sz="1300">
                <a:solidFill>
                  <a:srgbClr val="475569"/>
                </a:solidFill>
                <a:latin typeface="Times New Roman"/>
                <a:ea typeface="Times New Roman"/>
                <a:cs typeface="Times New Roman"/>
                <a:sym typeface="Times New Roman"/>
              </a:defRPr>
            </a:pPr>
            <a:r>
              <a:t>的偏好与经验无法沉淀。知途 TOURIS 以「记忆」为核心资产，将</a:t>
            </a:r>
          </a:p>
          <a:p>
            <a:pPr>
              <a:defRPr sz="1300">
                <a:solidFill>
                  <a:srgbClr val="475569"/>
                </a:solidFill>
                <a:latin typeface="Times New Roman"/>
                <a:ea typeface="Times New Roman"/>
                <a:cs typeface="Times New Roman"/>
                <a:sym typeface="Times New Roman"/>
              </a:defRPr>
            </a:pPr>
            <a:r>
              <a:t>您的每一次点赞、收藏与行程反馈转化为可溯源的数据模型。</a:t>
            </a:r>
          </a:p>
        </p:txBody>
      </p:sp>
      <p:sp>
        <p:nvSpPr>
          <p:cNvPr id="149" name="TextBox 7"/>
          <p:cNvSpPr txBox="1"/>
          <p:nvPr/>
        </p:nvSpPr>
        <p:spPr>
          <a:xfrm>
            <a:off x="6627799" y="2874037"/>
            <a:ext cx="5075559"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300">
                <a:solidFill>
                  <a:srgbClr val="475569"/>
                </a:solidFill>
                <a:latin typeface="Times New Roman"/>
                <a:ea typeface="Times New Roman"/>
                <a:cs typeface="Times New Roman"/>
                <a:sym typeface="Times New Roman"/>
              </a:defRPr>
            </a:pPr>
            <a:r>
              <a:t>系统通过相似攻略检索与大模型提名，自动匹配符合您口味的路线</a:t>
            </a:r>
            <a:endParaRPr sz="1100"/>
          </a:p>
          <a:p>
            <a:pPr>
              <a:defRPr sz="1300">
                <a:solidFill>
                  <a:srgbClr val="475569"/>
                </a:solidFill>
                <a:latin typeface="Times New Roman"/>
                <a:ea typeface="Times New Roman"/>
                <a:cs typeface="Times New Roman"/>
                <a:sym typeface="Times New Roman"/>
              </a:defRPr>
            </a:pPr>
            <a:r>
              <a:t>方案。让每一次出发都站在上一次的肩膀上，实现真正的个性化智</a:t>
            </a:r>
          </a:p>
          <a:p>
            <a:pPr>
              <a:defRPr sz="1300">
                <a:solidFill>
                  <a:srgbClr val="475569"/>
                </a:solidFill>
                <a:latin typeface="Times New Roman"/>
                <a:ea typeface="Times New Roman"/>
                <a:cs typeface="Times New Roman"/>
                <a:sym typeface="Times New Roman"/>
              </a:defRPr>
            </a:pPr>
            <a:r>
              <a:t>能推荐。</a:t>
            </a:r>
          </a:p>
        </p:txBody>
      </p:sp>
      <p:sp>
        <p:nvSpPr>
          <p:cNvPr id="150" name="AutoShape 8"/>
          <p:cNvSpPr/>
          <p:nvPr/>
        </p:nvSpPr>
        <p:spPr>
          <a:xfrm>
            <a:off x="6627800" y="3959888"/>
            <a:ext cx="1571235" cy="1828802"/>
          </a:xfrm>
          <a:prstGeom prst="roundRect">
            <a:avLst>
              <a:gd name="adj" fmla="val 2822"/>
            </a:avLst>
          </a:prstGeom>
          <a:solidFill>
            <a:srgbClr val="FFFFFF"/>
          </a:solidFill>
          <a:ln w="12700">
            <a:miter lim="400000"/>
          </a:ln>
          <a:effectLst>
            <a:outerShdw sx="100000" sy="100000" kx="0" ky="0" algn="b" rotWithShape="0" blurRad="114300" dist="38100" dir="5400000">
              <a:srgbClr val="000000">
                <a:alpha val="5098"/>
              </a:srgbClr>
            </a:outerShdw>
          </a:effectLst>
        </p:spPr>
        <p:txBody>
          <a:bodyPr lIns="45718" tIns="45718" rIns="45718" bIns="45718"/>
          <a:lstStyle/>
          <a:p>
            <a:pPr/>
          </a:p>
        </p:txBody>
      </p:sp>
      <p:sp>
        <p:nvSpPr>
          <p:cNvPr id="151" name="AutoShape 9"/>
          <p:cNvSpPr/>
          <p:nvPr/>
        </p:nvSpPr>
        <p:spPr>
          <a:xfrm>
            <a:off x="6627800" y="3959888"/>
            <a:ext cx="1571235" cy="9527"/>
          </a:xfrm>
          <a:prstGeom prst="line">
            <a:avLst/>
          </a:prstGeom>
          <a:ln w="38100">
            <a:solidFill>
              <a:srgbClr val="3B82F6"/>
            </a:solidFill>
          </a:ln>
        </p:spPr>
        <p:txBody>
          <a:bodyPr lIns="45718" tIns="45718" rIns="45718" bIns="45718"/>
          <a:lstStyle/>
          <a:p>
            <a:pPr/>
          </a:p>
        </p:txBody>
      </p:sp>
      <p:sp>
        <p:nvSpPr>
          <p:cNvPr id="152" name="TextBox 10"/>
          <p:cNvSpPr txBox="1"/>
          <p:nvPr/>
        </p:nvSpPr>
        <p:spPr>
          <a:xfrm>
            <a:off x="6780162" y="4207538"/>
            <a:ext cx="622301"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b="1" sz="1200">
                <a:solidFill>
                  <a:srgbClr val="1E293B"/>
                </a:solidFill>
                <a:latin typeface="Times New Roman"/>
                <a:ea typeface="Times New Roman"/>
                <a:cs typeface="Times New Roman"/>
                <a:sym typeface="Times New Roman"/>
              </a:defRPr>
            </a:lvl1pPr>
          </a:lstStyle>
          <a:p>
            <a:pPr/>
            <a:r>
              <a:t>痛点解决</a:t>
            </a:r>
          </a:p>
        </p:txBody>
      </p:sp>
      <p:sp>
        <p:nvSpPr>
          <p:cNvPr id="153" name="TextBox 11"/>
          <p:cNvSpPr txBox="1"/>
          <p:nvPr/>
        </p:nvSpPr>
        <p:spPr>
          <a:xfrm>
            <a:off x="6780162" y="5045738"/>
            <a:ext cx="1266511" cy="495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900">
                <a:solidFill>
                  <a:srgbClr val="64748B"/>
                </a:solidFill>
                <a:latin typeface="Times New Roman"/>
                <a:ea typeface="Times New Roman"/>
                <a:cs typeface="Times New Roman"/>
                <a:sym typeface="Times New Roman"/>
              </a:defRPr>
            </a:pPr>
            <a:r>
              <a:t>告别重复搜索</a:t>
            </a:r>
            <a:endParaRPr sz="1100"/>
          </a:p>
          <a:p>
            <a:pPr>
              <a:defRPr sz="900">
                <a:solidFill>
                  <a:srgbClr val="64748B"/>
                </a:solidFill>
                <a:latin typeface="Times New Roman"/>
                <a:ea typeface="Times New Roman"/>
                <a:cs typeface="Times New Roman"/>
                <a:sym typeface="Times New Roman"/>
              </a:defRPr>
            </a:pPr>
            <a:r>
              <a:t>拒绝无效决策</a:t>
            </a:r>
          </a:p>
          <a:p>
            <a:pPr>
              <a:defRPr sz="900">
                <a:solidFill>
                  <a:srgbClr val="64748B"/>
                </a:solidFill>
                <a:latin typeface="Times New Roman"/>
                <a:ea typeface="Times New Roman"/>
                <a:cs typeface="Times New Roman"/>
                <a:sym typeface="Times New Roman"/>
              </a:defRPr>
            </a:pPr>
            <a:r>
              <a:t>经验自动继承</a:t>
            </a:r>
          </a:p>
        </p:txBody>
      </p:sp>
      <p:sp>
        <p:nvSpPr>
          <p:cNvPr id="154" name="AutoShape 12"/>
          <p:cNvSpPr/>
          <p:nvPr/>
        </p:nvSpPr>
        <p:spPr>
          <a:xfrm>
            <a:off x="8351394" y="3959888"/>
            <a:ext cx="1571235" cy="1828802"/>
          </a:xfrm>
          <a:prstGeom prst="roundRect">
            <a:avLst>
              <a:gd name="adj" fmla="val 2822"/>
            </a:avLst>
          </a:prstGeom>
          <a:solidFill>
            <a:srgbClr val="FFFFFF"/>
          </a:solidFill>
          <a:ln w="12700">
            <a:miter lim="400000"/>
          </a:ln>
          <a:effectLst>
            <a:outerShdw sx="100000" sy="100000" kx="0" ky="0" algn="b" rotWithShape="0" blurRad="114300" dist="38100" dir="5400000">
              <a:srgbClr val="000000">
                <a:alpha val="5098"/>
              </a:srgbClr>
            </a:outerShdw>
          </a:effectLst>
        </p:spPr>
        <p:txBody>
          <a:bodyPr lIns="45718" tIns="45718" rIns="45718" bIns="45718"/>
          <a:lstStyle/>
          <a:p>
            <a:pPr/>
          </a:p>
        </p:txBody>
      </p:sp>
      <p:sp>
        <p:nvSpPr>
          <p:cNvPr id="155" name="AutoShape 13"/>
          <p:cNvSpPr/>
          <p:nvPr/>
        </p:nvSpPr>
        <p:spPr>
          <a:xfrm>
            <a:off x="8351394" y="3959888"/>
            <a:ext cx="1571235" cy="9527"/>
          </a:xfrm>
          <a:prstGeom prst="line">
            <a:avLst/>
          </a:prstGeom>
          <a:ln w="38100">
            <a:solidFill>
              <a:srgbClr val="8B5CF6"/>
            </a:solidFill>
          </a:ln>
        </p:spPr>
        <p:txBody>
          <a:bodyPr lIns="45718" tIns="45718" rIns="45718" bIns="45718"/>
          <a:lstStyle/>
          <a:p>
            <a:pPr/>
          </a:p>
        </p:txBody>
      </p:sp>
      <p:sp>
        <p:nvSpPr>
          <p:cNvPr id="156" name="TextBox 14"/>
          <p:cNvSpPr txBox="1"/>
          <p:nvPr/>
        </p:nvSpPr>
        <p:spPr>
          <a:xfrm>
            <a:off x="8503756" y="4207538"/>
            <a:ext cx="622301"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b="1" sz="1200">
                <a:solidFill>
                  <a:srgbClr val="1E293B"/>
                </a:solidFill>
                <a:latin typeface="Times New Roman"/>
                <a:ea typeface="Times New Roman"/>
                <a:cs typeface="Times New Roman"/>
                <a:sym typeface="Times New Roman"/>
              </a:defRPr>
            </a:lvl1pPr>
          </a:lstStyle>
          <a:p>
            <a:pPr/>
            <a:r>
              <a:t>核心机制</a:t>
            </a:r>
          </a:p>
        </p:txBody>
      </p:sp>
      <p:sp>
        <p:nvSpPr>
          <p:cNvPr id="157" name="TextBox 15"/>
          <p:cNvSpPr txBox="1"/>
          <p:nvPr/>
        </p:nvSpPr>
        <p:spPr>
          <a:xfrm>
            <a:off x="8503756" y="5045738"/>
            <a:ext cx="1266511" cy="5001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900">
                <a:solidFill>
                  <a:srgbClr val="64748B"/>
                </a:solidFill>
                <a:latin typeface="Times New Roman"/>
                <a:ea typeface="Times New Roman"/>
                <a:cs typeface="Times New Roman"/>
                <a:sym typeface="Times New Roman"/>
              </a:defRPr>
            </a:pPr>
            <a:r>
              <a:t>RAG 相似检索</a:t>
            </a:r>
            <a:endParaRPr sz="1100"/>
          </a:p>
          <a:p>
            <a:pPr>
              <a:defRPr sz="900">
                <a:solidFill>
                  <a:srgbClr val="64748B"/>
                </a:solidFill>
                <a:latin typeface="Times New Roman"/>
                <a:ea typeface="Times New Roman"/>
                <a:cs typeface="Times New Roman"/>
                <a:sym typeface="Times New Roman"/>
              </a:defRPr>
            </a:pPr>
            <a:r>
              <a:t>大模型智能提名</a:t>
            </a:r>
          </a:p>
          <a:p>
            <a:pPr>
              <a:defRPr sz="900">
                <a:solidFill>
                  <a:srgbClr val="64748B"/>
                </a:solidFill>
                <a:latin typeface="Times New Roman"/>
                <a:ea typeface="Times New Roman"/>
                <a:cs typeface="Times New Roman"/>
                <a:sym typeface="Times New Roman"/>
              </a:defRPr>
            </a:pPr>
            <a:r>
              <a:t>算法动态排线</a:t>
            </a:r>
          </a:p>
        </p:txBody>
      </p:sp>
      <p:sp>
        <p:nvSpPr>
          <p:cNvPr id="158" name="AutoShape 16"/>
          <p:cNvSpPr/>
          <p:nvPr/>
        </p:nvSpPr>
        <p:spPr>
          <a:xfrm>
            <a:off x="10074987" y="3959888"/>
            <a:ext cx="1571235" cy="1828802"/>
          </a:xfrm>
          <a:prstGeom prst="roundRect">
            <a:avLst>
              <a:gd name="adj" fmla="val 2822"/>
            </a:avLst>
          </a:prstGeom>
          <a:solidFill>
            <a:srgbClr val="FFFFFF"/>
          </a:solidFill>
          <a:ln w="12700">
            <a:miter lim="400000"/>
          </a:ln>
          <a:effectLst>
            <a:outerShdw sx="100000" sy="100000" kx="0" ky="0" algn="b" rotWithShape="0" blurRad="114300" dist="38100" dir="5400000">
              <a:srgbClr val="000000">
                <a:alpha val="5098"/>
              </a:srgbClr>
            </a:outerShdw>
          </a:effectLst>
        </p:spPr>
        <p:txBody>
          <a:bodyPr lIns="45718" tIns="45718" rIns="45718" bIns="45718"/>
          <a:lstStyle/>
          <a:p>
            <a:pPr/>
          </a:p>
        </p:txBody>
      </p:sp>
      <p:sp>
        <p:nvSpPr>
          <p:cNvPr id="159" name="AutoShape 17"/>
          <p:cNvSpPr/>
          <p:nvPr/>
        </p:nvSpPr>
        <p:spPr>
          <a:xfrm>
            <a:off x="10074987" y="3959888"/>
            <a:ext cx="1571235" cy="9527"/>
          </a:xfrm>
          <a:prstGeom prst="line">
            <a:avLst/>
          </a:prstGeom>
          <a:ln w="38100">
            <a:solidFill>
              <a:srgbClr val="10B981"/>
            </a:solidFill>
          </a:ln>
        </p:spPr>
        <p:txBody>
          <a:bodyPr lIns="45718" tIns="45718" rIns="45718" bIns="45718"/>
          <a:lstStyle/>
          <a:p>
            <a:pPr/>
          </a:p>
        </p:txBody>
      </p:sp>
      <p:sp>
        <p:nvSpPr>
          <p:cNvPr id="160" name="TextBox 18"/>
          <p:cNvSpPr txBox="1"/>
          <p:nvPr/>
        </p:nvSpPr>
        <p:spPr>
          <a:xfrm>
            <a:off x="10227349" y="4207538"/>
            <a:ext cx="622301"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b="1" sz="1200">
                <a:solidFill>
                  <a:srgbClr val="1E293B"/>
                </a:solidFill>
                <a:latin typeface="Times New Roman"/>
                <a:ea typeface="Times New Roman"/>
                <a:cs typeface="Times New Roman"/>
                <a:sym typeface="Times New Roman"/>
              </a:defRPr>
            </a:lvl1pPr>
          </a:lstStyle>
          <a:p>
            <a:pPr/>
            <a:r>
              <a:t>用户价值</a:t>
            </a:r>
          </a:p>
        </p:txBody>
      </p:sp>
      <p:sp>
        <p:nvSpPr>
          <p:cNvPr id="161" name="TextBox 19"/>
          <p:cNvSpPr txBox="1"/>
          <p:nvPr/>
        </p:nvSpPr>
        <p:spPr>
          <a:xfrm>
            <a:off x="10227349" y="5045738"/>
            <a:ext cx="1266511" cy="495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900">
                <a:solidFill>
                  <a:srgbClr val="64748B"/>
                </a:solidFill>
                <a:latin typeface="Times New Roman"/>
                <a:ea typeface="Times New Roman"/>
                <a:cs typeface="Times New Roman"/>
                <a:sym typeface="Times New Roman"/>
              </a:defRPr>
            </a:pPr>
            <a:r>
              <a:t>越用越懂你</a:t>
            </a:r>
            <a:endParaRPr sz="1100"/>
          </a:p>
          <a:p>
            <a:pPr>
              <a:defRPr sz="900">
                <a:solidFill>
                  <a:srgbClr val="64748B"/>
                </a:solidFill>
                <a:latin typeface="Times New Roman"/>
                <a:ea typeface="Times New Roman"/>
                <a:cs typeface="Times New Roman"/>
                <a:sym typeface="Times New Roman"/>
              </a:defRPr>
            </a:pPr>
            <a:r>
              <a:t>偏好可溯源</a:t>
            </a:r>
          </a:p>
          <a:p>
            <a:pPr>
              <a:defRPr sz="900">
                <a:solidFill>
                  <a:srgbClr val="64748B"/>
                </a:solidFill>
                <a:latin typeface="Times New Roman"/>
                <a:ea typeface="Times New Roman"/>
                <a:cs typeface="Times New Roman"/>
                <a:sym typeface="Times New Roman"/>
              </a:defRPr>
            </a:pPr>
            <a:r>
              <a:t>资产化体验</a:t>
            </a:r>
          </a:p>
        </p:txBody>
      </p:sp>
      <p:sp>
        <p:nvSpPr>
          <p:cNvPr id="162" name="演示视频…"/>
          <p:cNvSpPr txBox="1"/>
          <p:nvPr/>
        </p:nvSpPr>
        <p:spPr>
          <a:xfrm>
            <a:off x="366131" y="4943834"/>
            <a:ext cx="4994036" cy="650586"/>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r>
              <a:t>演示视频</a:t>
            </a:r>
          </a:p>
          <a:p>
            <a:pPr>
              <a:defRPr u="sng">
                <a:solidFill>
                  <a:srgbClr val="0000FF"/>
                </a:solidFill>
                <a:uFill>
                  <a:solidFill>
                    <a:srgbClr val="0000FF"/>
                  </a:solidFill>
                </a:uFill>
              </a:defRPr>
            </a:pPr>
            <a:r>
              <a:rPr>
                <a:hlinkClick r:id="rId4" invalidUrl="" action="" tgtFrame="" tooltip="" history="1" highlightClick="0" endSnd="0"/>
              </a:rPr>
              <a:t>https://www.bilibili.com/video/BV1JnYY6CE8a?t=2.3</a:t>
            </a:r>
          </a:p>
        </p:txBody>
      </p:sp>
      <p:sp>
        <p:nvSpPr>
          <p:cNvPr id="163" name="魔搭社区 https://www.modelscope.cn/studios/Nwflower/Touris"/>
          <p:cNvSpPr txBox="1"/>
          <p:nvPr/>
        </p:nvSpPr>
        <p:spPr>
          <a:xfrm>
            <a:off x="291123" y="5697471"/>
            <a:ext cx="5144054" cy="7010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r>
              <a:t>魔搭社区</a:t>
            </a:r>
            <a:br/>
            <a:r>
              <a:rPr u="sng">
                <a:solidFill>
                  <a:srgbClr val="0000FF"/>
                </a:solidFill>
                <a:uFill>
                  <a:solidFill>
                    <a:srgbClr val="0000FF"/>
                  </a:solidFill>
                </a:uFill>
                <a:hlinkClick r:id="rId5" invalidUrl="" action="" tgtFrame="" tooltip="" history="1" highlightClick="0" endSnd="0"/>
              </a:rPr>
              <a:t>https://www.modelscope.cn/studios/Nwflower/Touris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7" name="3389551912cddc583cbda9b2123435db.jpg" descr="3389551912cddc583cbda9b2123435db.jpg"/>
          <p:cNvPicPr>
            <a:picLocks noChangeAspect="1"/>
          </p:cNvPicPr>
          <p:nvPr/>
        </p:nvPicPr>
        <p:blipFill>
          <a:blip r:embed="rId3">
            <a:extLst/>
          </a:blip>
          <a:stretch>
            <a:fillRect/>
          </a:stretch>
        </p:blipFill>
        <p:spPr>
          <a:xfrm>
            <a:off x="-515679" y="-977065"/>
            <a:ext cx="13223359" cy="8812131"/>
          </a:xfrm>
          <a:prstGeom prst="rect">
            <a:avLst/>
          </a:prstGeom>
          <a:ln w="12700">
            <a:miter lim="400000"/>
          </a:ln>
        </p:spPr>
      </p:pic>
      <p:sp>
        <p:nvSpPr>
          <p:cNvPr id="168" name="TextBox 5"/>
          <p:cNvSpPr txBox="1"/>
          <p:nvPr/>
        </p:nvSpPr>
        <p:spPr>
          <a:xfrm>
            <a:off x="5638281" y="2539900"/>
            <a:ext cx="578230" cy="1397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900">
                <a:solidFill>
                  <a:srgbClr val="F1F3F5">
                    <a:alpha val="60000"/>
                  </a:srgbClr>
                </a:solidFill>
                <a:latin typeface="Alibaba PuHuiTi 3.0 55 Regular"/>
                <a:ea typeface="Alibaba PuHuiTi 3.0 55 Regular"/>
                <a:cs typeface="Alibaba PuHuiTi 3.0 55 Regular"/>
                <a:sym typeface="Alibaba PuHuiTi 3.0 55 Regular"/>
              </a:defRPr>
            </a:lvl1pPr>
          </a:lstStyle>
          <a:p>
            <a:pPr/>
            <a:r>
              <a:t>Chapter 03</a:t>
            </a:r>
          </a:p>
        </p:txBody>
      </p:sp>
      <p:sp>
        <p:nvSpPr>
          <p:cNvPr id="169" name="TextBox 6"/>
          <p:cNvSpPr txBox="1"/>
          <p:nvPr/>
        </p:nvSpPr>
        <p:spPr>
          <a:xfrm>
            <a:off x="2660649" y="4046591"/>
            <a:ext cx="6870701" cy="952501"/>
          </a:xfrm>
          <a:prstGeom prst="rect">
            <a:avLst/>
          </a:prstGeom>
          <a:solidFill>
            <a:srgbClr val="CAB89C"/>
          </a:solidFill>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defRPr b="1" sz="5400">
                <a:solidFill>
                  <a:srgbClr val="C48248"/>
                </a:solidFill>
                <a:latin typeface="Alibaba PuHuiTi 3.0 55 Regular"/>
                <a:ea typeface="Alibaba PuHuiTi 3.0 55 Regular"/>
                <a:cs typeface="Alibaba PuHuiTi 3.0 55 Regular"/>
                <a:sym typeface="Alibaba PuHuiTi 3.0 55 Regular"/>
              </a:defRPr>
            </a:lvl1pPr>
          </a:lstStyle>
          <a:p>
            <a:pPr/>
            <a:r>
              <a:t>记忆护城河与数据飞轮</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AutoShape 2"/>
          <p:cNvSpPr/>
          <p:nvPr/>
        </p:nvSpPr>
        <p:spPr>
          <a:xfrm>
            <a:off x="-2" y="0"/>
            <a:ext cx="12188956" cy="6858000"/>
          </a:xfrm>
          <a:prstGeom prst="rect">
            <a:avLst/>
          </a:prstGeom>
          <a:solidFill>
            <a:srgbClr val="F1F3F5"/>
          </a:solidFill>
          <a:ln w="12700">
            <a:miter lim="400000"/>
          </a:ln>
        </p:spPr>
        <p:txBody>
          <a:bodyPr lIns="45718" tIns="45718" rIns="45718" bIns="45718"/>
          <a:lstStyle/>
          <a:p>
            <a:pPr/>
          </a:p>
        </p:txBody>
      </p:sp>
      <p:sp>
        <p:nvSpPr>
          <p:cNvPr id="174" name="TextBox 3"/>
          <p:cNvSpPr txBox="1"/>
          <p:nvPr/>
        </p:nvSpPr>
        <p:spPr>
          <a:xfrm>
            <a:off x="457085" y="476250"/>
            <a:ext cx="696437" cy="1397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900">
                <a:solidFill>
                  <a:srgbClr val="0A1F3D">
                    <a:alpha val="54900"/>
                  </a:srgbClr>
                </a:solidFill>
                <a:latin typeface="Alibaba PuHuiTi 3.0 55 Regular"/>
                <a:ea typeface="Alibaba PuHuiTi 3.0 55 Regular"/>
                <a:cs typeface="Alibaba PuHuiTi 3.0 55 Regular"/>
                <a:sym typeface="Alibaba PuHuiTi 3.0 55 Regular"/>
              </a:defRPr>
            </a:lvl1pPr>
          </a:lstStyle>
          <a:p>
            <a:pPr/>
            <a:r>
              <a:t>CORE MOAT</a:t>
            </a:r>
          </a:p>
        </p:txBody>
      </p:sp>
      <p:sp>
        <p:nvSpPr>
          <p:cNvPr id="175" name="TextBox 4"/>
          <p:cNvSpPr txBox="1"/>
          <p:nvPr/>
        </p:nvSpPr>
        <p:spPr>
          <a:xfrm>
            <a:off x="457086" y="781050"/>
            <a:ext cx="8013701" cy="5334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b="1" sz="3000">
                <a:solidFill>
                  <a:srgbClr val="0A1F3D"/>
                </a:solidFill>
                <a:latin typeface="Alibaba PuHuiTi 3.0 55 Regular"/>
                <a:ea typeface="Alibaba PuHuiTi 3.0 55 Regular"/>
                <a:cs typeface="Alibaba PuHuiTi 3.0 55 Regular"/>
                <a:sym typeface="Alibaba PuHuiTi 3.0 55 Regular"/>
              </a:defRPr>
            </a:lvl1pPr>
          </a:lstStyle>
          <a:p>
            <a:pPr/>
            <a:r>
              <a:t>记忆护城河与数据飞轮：构筑极高用户迁移成本</a:t>
            </a:r>
          </a:p>
        </p:txBody>
      </p:sp>
      <p:sp>
        <p:nvSpPr>
          <p:cNvPr id="176" name="AutoShape 5"/>
          <p:cNvSpPr/>
          <p:nvPr/>
        </p:nvSpPr>
        <p:spPr>
          <a:xfrm>
            <a:off x="457086" y="1390649"/>
            <a:ext cx="9523" cy="649488"/>
          </a:xfrm>
          <a:prstGeom prst="line">
            <a:avLst/>
          </a:prstGeom>
          <a:ln>
            <a:solidFill>
              <a:srgbClr val="5B8CB8">
                <a:alpha val="78039"/>
              </a:srgbClr>
            </a:solidFill>
          </a:ln>
        </p:spPr>
        <p:txBody>
          <a:bodyPr lIns="45718" tIns="45718" rIns="45718" bIns="45718"/>
          <a:lstStyle/>
          <a:p>
            <a:pPr/>
          </a:p>
        </p:txBody>
      </p:sp>
      <p:sp>
        <p:nvSpPr>
          <p:cNvPr id="177" name="TextBox 6"/>
          <p:cNvSpPr txBox="1"/>
          <p:nvPr/>
        </p:nvSpPr>
        <p:spPr>
          <a:xfrm>
            <a:off x="580879" y="1428750"/>
            <a:ext cx="11608074"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i="1" sz="1600">
                <a:solidFill>
                  <a:srgbClr val="0A1F3D">
                    <a:alpha val="78039"/>
                  </a:srgbClr>
                </a:solidFill>
                <a:latin typeface="FZYaYiHei GB18030L2 R"/>
                <a:ea typeface="FZYaYiHei GB18030L2 R"/>
                <a:cs typeface="FZYaYiHei GB18030L2 R"/>
                <a:sym typeface="FZYaYiHei GB18030L2 R"/>
              </a:defRPr>
            </a:pPr>
            <a:r>
              <a:t>知途TOURIS通过'记忆资产'沉淀用户长期偏好，形成类似'音乐歌单'的高迁移成本护城河。这种数据飞轮效应不仅带来超</a:t>
            </a:r>
            <a:endParaRPr sz="1100"/>
          </a:p>
          <a:p>
            <a:pPr>
              <a:defRPr i="1" sz="1600">
                <a:solidFill>
                  <a:srgbClr val="0A1F3D">
                    <a:alpha val="78039"/>
                  </a:srgbClr>
                </a:solidFill>
                <a:latin typeface="FZYaYiHei GB18030L2 R"/>
                <a:ea typeface="FZYaYiHei GB18030L2 R"/>
                <a:cs typeface="FZYaYiHei GB18030L2 R"/>
                <a:sym typeface="FZYaYiHei GB18030L2 R"/>
              </a:defRPr>
            </a:pPr>
            <a:r>
              <a:t>高留存率，更为向高端定制与精准本地生活推荐转型奠定基础。</a:t>
            </a:r>
          </a:p>
        </p:txBody>
      </p:sp>
      <p:sp>
        <p:nvSpPr>
          <p:cNvPr id="178" name="AutoShape 7"/>
          <p:cNvSpPr/>
          <p:nvPr/>
        </p:nvSpPr>
        <p:spPr>
          <a:xfrm>
            <a:off x="457086" y="2268734"/>
            <a:ext cx="3605799" cy="4132065"/>
          </a:xfrm>
          <a:prstGeom prst="rect">
            <a:avLst/>
          </a:prstGeom>
          <a:solidFill>
            <a:srgbClr val="E8EBEF"/>
          </a:solidFill>
          <a:ln>
            <a:solidFill>
              <a:srgbClr val="C5CDD6"/>
            </a:solidFill>
          </a:ln>
        </p:spPr>
        <p:txBody>
          <a:bodyPr lIns="45718" tIns="45718" rIns="45718" bIns="45718"/>
          <a:lstStyle/>
          <a:p>
            <a:pPr/>
          </a:p>
        </p:txBody>
      </p:sp>
      <p:sp>
        <p:nvSpPr>
          <p:cNvPr id="179" name="AutoShape 8"/>
          <p:cNvSpPr/>
          <p:nvPr/>
        </p:nvSpPr>
        <p:spPr>
          <a:xfrm>
            <a:off x="457085" y="2268735"/>
            <a:ext cx="3605802" cy="9526"/>
          </a:xfrm>
          <a:prstGeom prst="line">
            <a:avLst/>
          </a:prstGeom>
          <a:ln w="28575">
            <a:solidFill>
              <a:srgbClr val="5B8CB8"/>
            </a:solidFill>
          </a:ln>
        </p:spPr>
        <p:txBody>
          <a:bodyPr lIns="45718" tIns="45718" rIns="45718" bIns="45718"/>
          <a:lstStyle/>
          <a:p>
            <a:pPr/>
          </a:p>
        </p:txBody>
      </p:sp>
      <p:sp>
        <p:nvSpPr>
          <p:cNvPr id="180" name="AutoShape 9"/>
          <p:cNvSpPr/>
          <p:nvPr/>
        </p:nvSpPr>
        <p:spPr>
          <a:xfrm>
            <a:off x="695150" y="2564009"/>
            <a:ext cx="438043" cy="4381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35" y="1786"/>
                </a:moveTo>
                <a:lnTo>
                  <a:pt x="10800" y="0"/>
                </a:lnTo>
                <a:lnTo>
                  <a:pt x="20665" y="1786"/>
                </a:lnTo>
                <a:cubicBezTo>
                  <a:pt x="20937" y="1838"/>
                  <a:pt x="21159" y="1957"/>
                  <a:pt x="21336" y="2141"/>
                </a:cubicBezTo>
                <a:cubicBezTo>
                  <a:pt x="21511" y="2322"/>
                  <a:pt x="21600" y="2525"/>
                  <a:pt x="21600" y="2750"/>
                </a:cubicBezTo>
                <a:lnTo>
                  <a:pt x="21600" y="12547"/>
                </a:lnTo>
                <a:cubicBezTo>
                  <a:pt x="21600" y="13541"/>
                  <a:pt x="21315" y="14472"/>
                  <a:pt x="20749" y="15336"/>
                </a:cubicBezTo>
                <a:cubicBezTo>
                  <a:pt x="20178" y="16200"/>
                  <a:pt x="19390" y="16906"/>
                  <a:pt x="18383" y="17457"/>
                </a:cubicBezTo>
                <a:lnTo>
                  <a:pt x="10800" y="21600"/>
                </a:lnTo>
                <a:lnTo>
                  <a:pt x="3217" y="17457"/>
                </a:lnTo>
                <a:cubicBezTo>
                  <a:pt x="2208" y="16906"/>
                  <a:pt x="1419" y="16200"/>
                  <a:pt x="851" y="15336"/>
                </a:cubicBezTo>
                <a:cubicBezTo>
                  <a:pt x="283" y="14472"/>
                  <a:pt x="0" y="13541"/>
                  <a:pt x="0" y="12547"/>
                </a:cubicBezTo>
                <a:lnTo>
                  <a:pt x="0" y="2750"/>
                </a:lnTo>
                <a:cubicBezTo>
                  <a:pt x="0" y="2525"/>
                  <a:pt x="86" y="2322"/>
                  <a:pt x="264" y="2141"/>
                </a:cubicBezTo>
                <a:cubicBezTo>
                  <a:pt x="439" y="1957"/>
                  <a:pt x="663" y="1838"/>
                  <a:pt x="935" y="1786"/>
                </a:cubicBezTo>
                <a:moveTo>
                  <a:pt x="19200" y="3534"/>
                </a:moveTo>
                <a:lnTo>
                  <a:pt x="10800" y="2002"/>
                </a:lnTo>
                <a:lnTo>
                  <a:pt x="2400" y="3534"/>
                </a:lnTo>
                <a:lnTo>
                  <a:pt x="2400" y="12547"/>
                </a:lnTo>
                <a:cubicBezTo>
                  <a:pt x="2400" y="13215"/>
                  <a:pt x="2588" y="13837"/>
                  <a:pt x="2964" y="14414"/>
                </a:cubicBezTo>
                <a:cubicBezTo>
                  <a:pt x="3340" y="14988"/>
                  <a:pt x="3863" y="15459"/>
                  <a:pt x="4537" y="15826"/>
                </a:cubicBezTo>
                <a:lnTo>
                  <a:pt x="10800" y="19243"/>
                </a:lnTo>
                <a:lnTo>
                  <a:pt x="17063" y="15826"/>
                </a:lnTo>
                <a:cubicBezTo>
                  <a:pt x="17735" y="15459"/>
                  <a:pt x="18260" y="14988"/>
                  <a:pt x="18636" y="14414"/>
                </a:cubicBezTo>
                <a:cubicBezTo>
                  <a:pt x="19012" y="13837"/>
                  <a:pt x="19200" y="13215"/>
                  <a:pt x="19200" y="12547"/>
                </a:cubicBezTo>
                <a:lnTo>
                  <a:pt x="19200" y="3534"/>
                </a:lnTo>
                <a:moveTo>
                  <a:pt x="10199" y="11958"/>
                </a:moveTo>
                <a:lnTo>
                  <a:pt x="16151" y="7089"/>
                </a:lnTo>
                <a:lnTo>
                  <a:pt x="17832" y="8482"/>
                </a:lnTo>
                <a:lnTo>
                  <a:pt x="10199" y="14727"/>
                </a:lnTo>
                <a:lnTo>
                  <a:pt x="5112" y="10565"/>
                </a:lnTo>
                <a:lnTo>
                  <a:pt x="6816" y="9169"/>
                </a:lnTo>
              </a:path>
            </a:pathLst>
          </a:custGeom>
          <a:solidFill>
            <a:srgbClr val="5B8CB8"/>
          </a:solidFill>
          <a:ln w="12700">
            <a:miter lim="400000"/>
          </a:ln>
        </p:spPr>
        <p:txBody>
          <a:bodyPr lIns="45718" tIns="45718" rIns="45718" bIns="45718"/>
          <a:lstStyle/>
          <a:p>
            <a:pPr/>
          </a:p>
        </p:txBody>
      </p:sp>
      <p:sp>
        <p:nvSpPr>
          <p:cNvPr id="181" name="TextBox 10"/>
          <p:cNvSpPr txBox="1"/>
          <p:nvPr/>
        </p:nvSpPr>
        <p:spPr>
          <a:xfrm>
            <a:off x="695150" y="3815507"/>
            <a:ext cx="1155701" cy="3175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b="1">
                <a:solidFill>
                  <a:srgbClr val="0A1F3D"/>
                </a:solidFill>
                <a:latin typeface="Alibaba PuHuiTi 3.0 55 Regular"/>
                <a:ea typeface="Alibaba PuHuiTi 3.0 55 Regular"/>
                <a:cs typeface="Alibaba PuHuiTi 3.0 55 Regular"/>
                <a:sym typeface="Alibaba PuHuiTi 3.0 55 Regular"/>
              </a:defRPr>
            </a:lvl1pPr>
          </a:lstStyle>
          <a:p>
            <a:pPr/>
            <a:r>
              <a:t>记忆护城河</a:t>
            </a:r>
          </a:p>
        </p:txBody>
      </p:sp>
      <p:sp>
        <p:nvSpPr>
          <p:cNvPr id="182" name="TextBox 11"/>
          <p:cNvSpPr txBox="1"/>
          <p:nvPr/>
        </p:nvSpPr>
        <p:spPr>
          <a:xfrm>
            <a:off x="695150" y="4236392"/>
            <a:ext cx="3367735"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100">
                <a:solidFill>
                  <a:srgbClr val="0A1F3D">
                    <a:alpha val="81960"/>
                  </a:srgbClr>
                </a:solidFill>
                <a:latin typeface="FZYaYiHei GB18030L2 R"/>
                <a:ea typeface="FZYaYiHei GB18030L2 R"/>
                <a:cs typeface="FZYaYiHei GB18030L2 R"/>
                <a:sym typeface="FZYaYiHei GB18030L2 R"/>
              </a:defRPr>
            </a:pPr>
            <a:r>
              <a:t>用户沉淀数十条旅行偏好如同个人专属歌单，一</a:t>
            </a:r>
          </a:p>
          <a:p>
            <a:pPr>
              <a:defRPr sz="1100">
                <a:solidFill>
                  <a:srgbClr val="0A1F3D">
                    <a:alpha val="81960"/>
                  </a:srgbClr>
                </a:solidFill>
                <a:latin typeface="FZYaYiHei GB18030L2 R"/>
                <a:ea typeface="FZYaYiHei GB18030L2 R"/>
                <a:cs typeface="FZYaYiHei GB18030L2 R"/>
                <a:sym typeface="FZYaYiHei GB18030L2 R"/>
              </a:defRPr>
            </a:pPr>
            <a:r>
              <a:t>旦形成便难以割舍，从根本上解决'用完即走'的留</a:t>
            </a:r>
          </a:p>
          <a:p>
            <a:pPr>
              <a:defRPr sz="1100">
                <a:solidFill>
                  <a:srgbClr val="0A1F3D">
                    <a:alpha val="81960"/>
                  </a:srgbClr>
                </a:solidFill>
                <a:latin typeface="FZYaYiHei GB18030L2 R"/>
                <a:ea typeface="FZYaYiHei GB18030L2 R"/>
                <a:cs typeface="FZYaYiHei GB18030L2 R"/>
                <a:sym typeface="FZYaYiHei GB18030L2 R"/>
              </a:defRPr>
            </a:pPr>
            <a:r>
              <a:t>存难题</a:t>
            </a:r>
          </a:p>
        </p:txBody>
      </p:sp>
      <p:sp>
        <p:nvSpPr>
          <p:cNvPr id="183" name="AutoShape 12"/>
          <p:cNvSpPr/>
          <p:nvPr/>
        </p:nvSpPr>
        <p:spPr>
          <a:xfrm>
            <a:off x="695150" y="5709344"/>
            <a:ext cx="3129672" cy="9527"/>
          </a:xfrm>
          <a:prstGeom prst="line">
            <a:avLst/>
          </a:prstGeom>
          <a:ln>
            <a:solidFill>
              <a:srgbClr val="C5CDD6"/>
            </a:solidFill>
          </a:ln>
        </p:spPr>
        <p:txBody>
          <a:bodyPr lIns="45718" tIns="45718" rIns="45718" bIns="45718"/>
          <a:lstStyle/>
          <a:p>
            <a:pPr/>
          </a:p>
        </p:txBody>
      </p:sp>
      <p:sp>
        <p:nvSpPr>
          <p:cNvPr id="184" name="TextBox 13"/>
          <p:cNvSpPr txBox="1"/>
          <p:nvPr/>
        </p:nvSpPr>
        <p:spPr>
          <a:xfrm>
            <a:off x="695150" y="5842694"/>
            <a:ext cx="977901" cy="330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900">
                <a:solidFill>
                  <a:srgbClr val="5B8CB8"/>
                </a:solidFill>
                <a:latin typeface="Alibaba PuHuiTi 3.0 55 Regular"/>
                <a:ea typeface="Alibaba PuHuiTi 3.0 55 Regular"/>
                <a:cs typeface="Alibaba PuHuiTi 3.0 55 Regular"/>
                <a:sym typeface="Alibaba PuHuiTi 3.0 55 Regular"/>
              </a:defRPr>
            </a:lvl1pPr>
          </a:lstStyle>
          <a:p>
            <a:pPr/>
            <a:r>
              <a:t>记忆资产</a:t>
            </a:r>
          </a:p>
        </p:txBody>
      </p:sp>
      <p:sp>
        <p:nvSpPr>
          <p:cNvPr id="185" name="AutoShape 14"/>
          <p:cNvSpPr/>
          <p:nvPr/>
        </p:nvSpPr>
        <p:spPr>
          <a:xfrm>
            <a:off x="4291426" y="2268734"/>
            <a:ext cx="3605951" cy="4132065"/>
          </a:xfrm>
          <a:prstGeom prst="rect">
            <a:avLst/>
          </a:prstGeom>
          <a:solidFill>
            <a:srgbClr val="E8EBEF"/>
          </a:solidFill>
          <a:ln>
            <a:solidFill>
              <a:srgbClr val="C5CDD6"/>
            </a:solidFill>
          </a:ln>
        </p:spPr>
        <p:txBody>
          <a:bodyPr lIns="45718" tIns="45718" rIns="45718" bIns="45718"/>
          <a:lstStyle/>
          <a:p>
            <a:pPr/>
          </a:p>
        </p:txBody>
      </p:sp>
      <p:sp>
        <p:nvSpPr>
          <p:cNvPr id="186" name="AutoShape 15"/>
          <p:cNvSpPr/>
          <p:nvPr/>
        </p:nvSpPr>
        <p:spPr>
          <a:xfrm>
            <a:off x="4291428" y="2268735"/>
            <a:ext cx="3605950" cy="9526"/>
          </a:xfrm>
          <a:prstGeom prst="line">
            <a:avLst/>
          </a:prstGeom>
          <a:ln w="28575">
            <a:solidFill>
              <a:srgbClr val="5B8CB8"/>
            </a:solidFill>
          </a:ln>
        </p:spPr>
        <p:txBody>
          <a:bodyPr lIns="45718" tIns="45718" rIns="45718" bIns="45718"/>
          <a:lstStyle/>
          <a:p>
            <a:pPr/>
          </a:p>
        </p:txBody>
      </p:sp>
      <p:sp>
        <p:nvSpPr>
          <p:cNvPr id="187" name="AutoShape 16"/>
          <p:cNvSpPr/>
          <p:nvPr/>
        </p:nvSpPr>
        <p:spPr>
          <a:xfrm>
            <a:off x="4529492" y="2564009"/>
            <a:ext cx="438043" cy="4381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2160"/>
                </a:moveTo>
                <a:cubicBezTo>
                  <a:pt x="9344" y="2160"/>
                  <a:pt x="7976" y="2506"/>
                  <a:pt x="6695" y="3197"/>
                </a:cubicBezTo>
                <a:cubicBezTo>
                  <a:pt x="5457" y="3858"/>
                  <a:pt x="4442" y="4774"/>
                  <a:pt x="3651" y="5940"/>
                </a:cubicBezTo>
                <a:lnTo>
                  <a:pt x="6479" y="5940"/>
                </a:lnTo>
                <a:lnTo>
                  <a:pt x="6479" y="8100"/>
                </a:lnTo>
                <a:lnTo>
                  <a:pt x="0" y="8100"/>
                </a:lnTo>
                <a:lnTo>
                  <a:pt x="0" y="1620"/>
                </a:lnTo>
                <a:lnTo>
                  <a:pt x="2160" y="1620"/>
                </a:lnTo>
                <a:lnTo>
                  <a:pt x="2160" y="4320"/>
                </a:lnTo>
                <a:cubicBezTo>
                  <a:pt x="3167" y="2981"/>
                  <a:pt x="4414" y="1929"/>
                  <a:pt x="5896" y="1166"/>
                </a:cubicBezTo>
                <a:cubicBezTo>
                  <a:pt x="7421" y="389"/>
                  <a:pt x="9057" y="0"/>
                  <a:pt x="10800" y="0"/>
                </a:cubicBezTo>
                <a:cubicBezTo>
                  <a:pt x="12269" y="0"/>
                  <a:pt x="13673" y="281"/>
                  <a:pt x="15013" y="842"/>
                </a:cubicBezTo>
                <a:cubicBezTo>
                  <a:pt x="16292" y="1389"/>
                  <a:pt x="17433" y="2162"/>
                  <a:pt x="18435" y="3164"/>
                </a:cubicBezTo>
                <a:cubicBezTo>
                  <a:pt x="19435" y="4164"/>
                  <a:pt x="20209" y="5305"/>
                  <a:pt x="20757" y="6588"/>
                </a:cubicBezTo>
                <a:cubicBezTo>
                  <a:pt x="21319" y="7927"/>
                  <a:pt x="21600" y="9331"/>
                  <a:pt x="21600" y="10800"/>
                </a:cubicBezTo>
                <a:lnTo>
                  <a:pt x="19440" y="10800"/>
                </a:lnTo>
                <a:cubicBezTo>
                  <a:pt x="19440" y="9230"/>
                  <a:pt x="19042" y="7776"/>
                  <a:pt x="18251" y="6437"/>
                </a:cubicBezTo>
                <a:cubicBezTo>
                  <a:pt x="17487" y="5141"/>
                  <a:pt x="16458" y="4110"/>
                  <a:pt x="15164" y="3348"/>
                </a:cubicBezTo>
                <a:cubicBezTo>
                  <a:pt x="13825" y="2555"/>
                  <a:pt x="12368" y="2160"/>
                  <a:pt x="10800" y="2160"/>
                </a:cubicBezTo>
                <a:moveTo>
                  <a:pt x="0" y="10800"/>
                </a:moveTo>
                <a:lnTo>
                  <a:pt x="2160" y="10800"/>
                </a:lnTo>
                <a:cubicBezTo>
                  <a:pt x="2160" y="12368"/>
                  <a:pt x="2556" y="13824"/>
                  <a:pt x="3349" y="15163"/>
                </a:cubicBezTo>
                <a:cubicBezTo>
                  <a:pt x="4111" y="16459"/>
                  <a:pt x="5140" y="17487"/>
                  <a:pt x="6436" y="18252"/>
                </a:cubicBezTo>
                <a:cubicBezTo>
                  <a:pt x="7775" y="19043"/>
                  <a:pt x="9229" y="19440"/>
                  <a:pt x="10800" y="19440"/>
                </a:cubicBezTo>
                <a:cubicBezTo>
                  <a:pt x="12254" y="19440"/>
                  <a:pt x="13622" y="19094"/>
                  <a:pt x="14905" y="18403"/>
                </a:cubicBezTo>
                <a:cubicBezTo>
                  <a:pt x="16141" y="17740"/>
                  <a:pt x="17156" y="16826"/>
                  <a:pt x="17949" y="15660"/>
                </a:cubicBezTo>
                <a:lnTo>
                  <a:pt x="15121" y="15660"/>
                </a:lnTo>
                <a:lnTo>
                  <a:pt x="15121" y="13500"/>
                </a:lnTo>
                <a:lnTo>
                  <a:pt x="21600" y="13500"/>
                </a:lnTo>
                <a:lnTo>
                  <a:pt x="21600" y="19980"/>
                </a:lnTo>
                <a:lnTo>
                  <a:pt x="19440" y="19980"/>
                </a:lnTo>
                <a:lnTo>
                  <a:pt x="19440" y="17280"/>
                </a:lnTo>
                <a:cubicBezTo>
                  <a:pt x="18431" y="18619"/>
                  <a:pt x="17186" y="19669"/>
                  <a:pt x="15704" y="20434"/>
                </a:cubicBezTo>
                <a:cubicBezTo>
                  <a:pt x="14177" y="21211"/>
                  <a:pt x="12541" y="21600"/>
                  <a:pt x="10800" y="21600"/>
                </a:cubicBezTo>
                <a:cubicBezTo>
                  <a:pt x="9331" y="21600"/>
                  <a:pt x="7927" y="21319"/>
                  <a:pt x="6587" y="20758"/>
                </a:cubicBezTo>
                <a:cubicBezTo>
                  <a:pt x="5306" y="20209"/>
                  <a:pt x="4165" y="19436"/>
                  <a:pt x="3165" y="18436"/>
                </a:cubicBezTo>
                <a:cubicBezTo>
                  <a:pt x="2163" y="17433"/>
                  <a:pt x="1389" y="16293"/>
                  <a:pt x="843" y="15012"/>
                </a:cubicBezTo>
                <a:cubicBezTo>
                  <a:pt x="281" y="13673"/>
                  <a:pt x="0" y="12269"/>
                  <a:pt x="0" y="10800"/>
                </a:cubicBezTo>
              </a:path>
            </a:pathLst>
          </a:custGeom>
          <a:solidFill>
            <a:srgbClr val="5B8CB8"/>
          </a:solidFill>
          <a:ln w="12700">
            <a:miter lim="400000"/>
          </a:ln>
        </p:spPr>
        <p:txBody>
          <a:bodyPr lIns="45718" tIns="45718" rIns="45718" bIns="45718"/>
          <a:lstStyle/>
          <a:p>
            <a:pPr/>
          </a:p>
        </p:txBody>
      </p:sp>
      <p:sp>
        <p:nvSpPr>
          <p:cNvPr id="188" name="TextBox 17"/>
          <p:cNvSpPr txBox="1"/>
          <p:nvPr/>
        </p:nvSpPr>
        <p:spPr>
          <a:xfrm>
            <a:off x="4529492" y="3815507"/>
            <a:ext cx="1384301" cy="3175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b="1">
                <a:solidFill>
                  <a:srgbClr val="0A1F3D"/>
                </a:solidFill>
                <a:latin typeface="Alibaba PuHuiTi 3.0 55 Regular"/>
                <a:ea typeface="Alibaba PuHuiTi 3.0 55 Regular"/>
                <a:cs typeface="Alibaba PuHuiTi 3.0 55 Regular"/>
                <a:sym typeface="Alibaba PuHuiTi 3.0 55 Regular"/>
              </a:defRPr>
            </a:lvl1pPr>
          </a:lstStyle>
          <a:p>
            <a:pPr/>
            <a:r>
              <a:t>数据飞轮效应</a:t>
            </a:r>
          </a:p>
        </p:txBody>
      </p:sp>
      <p:sp>
        <p:nvSpPr>
          <p:cNvPr id="189" name="TextBox 18"/>
          <p:cNvSpPr txBox="1"/>
          <p:nvPr/>
        </p:nvSpPr>
        <p:spPr>
          <a:xfrm>
            <a:off x="4529492" y="4236392"/>
            <a:ext cx="3367885"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100">
                <a:solidFill>
                  <a:srgbClr val="0A1F3D">
                    <a:alpha val="81960"/>
                  </a:srgbClr>
                </a:solidFill>
                <a:latin typeface="FZYaYiHei GB18030L2 R"/>
                <a:ea typeface="FZYaYiHei GB18030L2 R"/>
                <a:cs typeface="FZYaYiHei GB18030L2 R"/>
                <a:sym typeface="FZYaYiHei GB18030L2 R"/>
              </a:defRPr>
            </a:pPr>
            <a:r>
              <a:t>每次交互反哺算法模型，推荐精度随使用时间指</a:t>
            </a:r>
          </a:p>
          <a:p>
            <a:pPr>
              <a:defRPr sz="1100">
                <a:solidFill>
                  <a:srgbClr val="0A1F3D">
                    <a:alpha val="81960"/>
                  </a:srgbClr>
                </a:solidFill>
                <a:latin typeface="FZYaYiHei GB18030L2 R"/>
                <a:ea typeface="FZYaYiHei GB18030L2 R"/>
                <a:cs typeface="FZYaYiHei GB18030L2 R"/>
                <a:sym typeface="FZYaYiHei GB18030L2 R"/>
              </a:defRPr>
            </a:pPr>
            <a:r>
              <a:t>数级上升，形成竞争对手难以短期弥补的体验壁</a:t>
            </a:r>
          </a:p>
          <a:p>
            <a:pPr>
              <a:defRPr sz="1100">
                <a:solidFill>
                  <a:srgbClr val="0A1F3D">
                    <a:alpha val="81960"/>
                  </a:srgbClr>
                </a:solidFill>
                <a:latin typeface="FZYaYiHei GB18030L2 R"/>
                <a:ea typeface="FZYaYiHei GB18030L2 R"/>
                <a:cs typeface="FZYaYiHei GB18030L2 R"/>
                <a:sym typeface="FZYaYiHei GB18030L2 R"/>
              </a:defRPr>
            </a:pPr>
            <a:r>
              <a:t>垒</a:t>
            </a:r>
          </a:p>
        </p:txBody>
      </p:sp>
      <p:sp>
        <p:nvSpPr>
          <p:cNvPr id="190" name="AutoShape 19"/>
          <p:cNvSpPr/>
          <p:nvPr/>
        </p:nvSpPr>
        <p:spPr>
          <a:xfrm>
            <a:off x="4529492" y="5709344"/>
            <a:ext cx="3129819" cy="9528"/>
          </a:xfrm>
          <a:prstGeom prst="line">
            <a:avLst/>
          </a:prstGeom>
          <a:ln>
            <a:solidFill>
              <a:srgbClr val="C5CDD6"/>
            </a:solidFill>
          </a:ln>
        </p:spPr>
        <p:txBody>
          <a:bodyPr lIns="45718" tIns="45718" rIns="45718" bIns="45718"/>
          <a:lstStyle/>
          <a:p>
            <a:pPr/>
          </a:p>
        </p:txBody>
      </p:sp>
      <p:sp>
        <p:nvSpPr>
          <p:cNvPr id="191" name="TextBox 20"/>
          <p:cNvSpPr txBox="1"/>
          <p:nvPr/>
        </p:nvSpPr>
        <p:spPr>
          <a:xfrm>
            <a:off x="4529492" y="5842694"/>
            <a:ext cx="977901" cy="330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900">
                <a:solidFill>
                  <a:srgbClr val="5B8CB8"/>
                </a:solidFill>
                <a:latin typeface="Alibaba PuHuiTi 3.0 55 Regular"/>
                <a:ea typeface="Alibaba PuHuiTi 3.0 55 Regular"/>
                <a:cs typeface="Alibaba PuHuiTi 3.0 55 Regular"/>
                <a:sym typeface="Alibaba PuHuiTi 3.0 55 Regular"/>
              </a:defRPr>
            </a:lvl1pPr>
          </a:lstStyle>
          <a:p>
            <a:pPr/>
            <a:r>
              <a:t>越用越准</a:t>
            </a:r>
          </a:p>
        </p:txBody>
      </p:sp>
      <p:sp>
        <p:nvSpPr>
          <p:cNvPr id="192" name="AutoShape 21"/>
          <p:cNvSpPr/>
          <p:nvPr/>
        </p:nvSpPr>
        <p:spPr>
          <a:xfrm>
            <a:off x="8125917" y="2268734"/>
            <a:ext cx="3605801" cy="4132065"/>
          </a:xfrm>
          <a:prstGeom prst="rect">
            <a:avLst/>
          </a:prstGeom>
          <a:solidFill>
            <a:srgbClr val="E8EBEF"/>
          </a:solidFill>
          <a:ln>
            <a:solidFill>
              <a:srgbClr val="C5CDD6"/>
            </a:solidFill>
          </a:ln>
        </p:spPr>
        <p:txBody>
          <a:bodyPr lIns="45718" tIns="45718" rIns="45718" bIns="45718"/>
          <a:lstStyle/>
          <a:p>
            <a:pPr/>
          </a:p>
        </p:txBody>
      </p:sp>
      <p:sp>
        <p:nvSpPr>
          <p:cNvPr id="193" name="AutoShape 22"/>
          <p:cNvSpPr/>
          <p:nvPr/>
        </p:nvSpPr>
        <p:spPr>
          <a:xfrm>
            <a:off x="8125917" y="2268735"/>
            <a:ext cx="3605801" cy="9526"/>
          </a:xfrm>
          <a:prstGeom prst="line">
            <a:avLst/>
          </a:prstGeom>
          <a:ln w="28575">
            <a:solidFill>
              <a:srgbClr val="5B8CB8"/>
            </a:solidFill>
          </a:ln>
        </p:spPr>
        <p:txBody>
          <a:bodyPr lIns="45718" tIns="45718" rIns="45718" bIns="45718"/>
          <a:lstStyle/>
          <a:p>
            <a:pPr/>
          </a:p>
        </p:txBody>
      </p:sp>
      <p:sp>
        <p:nvSpPr>
          <p:cNvPr id="194" name="AutoShape 23"/>
          <p:cNvSpPr/>
          <p:nvPr/>
        </p:nvSpPr>
        <p:spPr>
          <a:xfrm>
            <a:off x="8363786" y="2564009"/>
            <a:ext cx="438439" cy="438191"/>
          </a:xfrm>
          <a:custGeom>
            <a:avLst/>
            <a:gdLst/>
            <a:ahLst/>
            <a:cxnLst>
              <a:cxn ang="0">
                <a:pos x="wd2" y="hd2"/>
              </a:cxn>
              <a:cxn ang="5400000">
                <a:pos x="wd2" y="hd2"/>
              </a:cxn>
              <a:cxn ang="10800000">
                <a:pos x="wd2" y="hd2"/>
              </a:cxn>
              <a:cxn ang="16200000">
                <a:pos x="wd2" y="hd2"/>
              </a:cxn>
            </a:cxnLst>
            <a:rect l="0" t="0" r="r" b="b"/>
            <a:pathLst>
              <a:path w="21572" h="21582" fill="norm" stroke="1" extrusionOk="0">
                <a:moveTo>
                  <a:pt x="2282" y="11578"/>
                </a:moveTo>
                <a:cubicBezTo>
                  <a:pt x="2282" y="9852"/>
                  <a:pt x="2646" y="8201"/>
                  <a:pt x="3375" y="6627"/>
                </a:cubicBezTo>
                <a:cubicBezTo>
                  <a:pt x="4086" y="5108"/>
                  <a:pt x="5086" y="3772"/>
                  <a:pt x="6375" y="2620"/>
                </a:cubicBezTo>
                <a:cubicBezTo>
                  <a:pt x="7662" y="1467"/>
                  <a:pt x="9133" y="593"/>
                  <a:pt x="10786" y="0"/>
                </a:cubicBezTo>
                <a:cubicBezTo>
                  <a:pt x="12437" y="593"/>
                  <a:pt x="13907" y="1467"/>
                  <a:pt x="15197" y="2620"/>
                </a:cubicBezTo>
                <a:cubicBezTo>
                  <a:pt x="16483" y="3772"/>
                  <a:pt x="17484" y="5108"/>
                  <a:pt x="18197" y="6627"/>
                </a:cubicBezTo>
                <a:cubicBezTo>
                  <a:pt x="18926" y="8201"/>
                  <a:pt x="19290" y="9852"/>
                  <a:pt x="19290" y="11578"/>
                </a:cubicBezTo>
                <a:cubicBezTo>
                  <a:pt x="19290" y="12420"/>
                  <a:pt x="19200" y="13246"/>
                  <a:pt x="19023" y="14062"/>
                </a:cubicBezTo>
                <a:lnTo>
                  <a:pt x="21379" y="15948"/>
                </a:lnTo>
                <a:cubicBezTo>
                  <a:pt x="21476" y="16030"/>
                  <a:pt x="21536" y="16129"/>
                  <a:pt x="21562" y="16248"/>
                </a:cubicBezTo>
                <a:cubicBezTo>
                  <a:pt x="21586" y="16365"/>
                  <a:pt x="21567" y="16477"/>
                  <a:pt x="21502" y="16589"/>
                </a:cubicBezTo>
                <a:lnTo>
                  <a:pt x="18465" y="21311"/>
                </a:lnTo>
                <a:cubicBezTo>
                  <a:pt x="18383" y="21436"/>
                  <a:pt x="18260" y="21518"/>
                  <a:pt x="18100" y="21559"/>
                </a:cubicBezTo>
                <a:cubicBezTo>
                  <a:pt x="17936" y="21600"/>
                  <a:pt x="17783" y="21587"/>
                  <a:pt x="17639" y="21518"/>
                </a:cubicBezTo>
                <a:cubicBezTo>
                  <a:pt x="17589" y="21505"/>
                  <a:pt x="17540" y="21477"/>
                  <a:pt x="17492" y="21436"/>
                </a:cubicBezTo>
                <a:lnTo>
                  <a:pt x="14796" y="19116"/>
                </a:lnTo>
                <a:cubicBezTo>
                  <a:pt x="14552" y="18922"/>
                  <a:pt x="14261" y="18827"/>
                  <a:pt x="13920" y="18827"/>
                </a:cubicBezTo>
                <a:lnTo>
                  <a:pt x="7652" y="18827"/>
                </a:lnTo>
                <a:cubicBezTo>
                  <a:pt x="7311" y="18827"/>
                  <a:pt x="7018" y="18922"/>
                  <a:pt x="6776" y="19116"/>
                </a:cubicBezTo>
                <a:lnTo>
                  <a:pt x="4080" y="21436"/>
                </a:lnTo>
                <a:cubicBezTo>
                  <a:pt x="3950" y="21531"/>
                  <a:pt x="3804" y="21581"/>
                  <a:pt x="3642" y="21581"/>
                </a:cubicBezTo>
                <a:cubicBezTo>
                  <a:pt x="3478" y="21581"/>
                  <a:pt x="3334" y="21531"/>
                  <a:pt x="3204" y="21436"/>
                </a:cubicBezTo>
                <a:cubicBezTo>
                  <a:pt x="3172" y="21408"/>
                  <a:pt x="3140" y="21367"/>
                  <a:pt x="3107" y="21311"/>
                </a:cubicBezTo>
                <a:lnTo>
                  <a:pt x="70" y="16589"/>
                </a:lnTo>
                <a:cubicBezTo>
                  <a:pt x="5" y="16477"/>
                  <a:pt x="-14" y="16365"/>
                  <a:pt x="10" y="16248"/>
                </a:cubicBezTo>
                <a:cubicBezTo>
                  <a:pt x="33" y="16129"/>
                  <a:pt x="94" y="16030"/>
                  <a:pt x="193" y="15948"/>
                </a:cubicBezTo>
                <a:lnTo>
                  <a:pt x="2549" y="14062"/>
                </a:lnTo>
                <a:cubicBezTo>
                  <a:pt x="2370" y="13246"/>
                  <a:pt x="2282" y="12420"/>
                  <a:pt x="2282" y="11578"/>
                </a:cubicBezTo>
                <a:moveTo>
                  <a:pt x="2890" y="16630"/>
                </a:moveTo>
                <a:lnTo>
                  <a:pt x="4080" y="18495"/>
                </a:lnTo>
                <a:lnTo>
                  <a:pt x="5076" y="17666"/>
                </a:lnTo>
                <a:cubicBezTo>
                  <a:pt x="5416" y="17377"/>
                  <a:pt x="5809" y="17152"/>
                  <a:pt x="6255" y="16993"/>
                </a:cubicBezTo>
                <a:cubicBezTo>
                  <a:pt x="6699" y="16833"/>
                  <a:pt x="7164" y="16755"/>
                  <a:pt x="7652" y="16755"/>
                </a:cubicBezTo>
                <a:lnTo>
                  <a:pt x="13920" y="16755"/>
                </a:lnTo>
                <a:cubicBezTo>
                  <a:pt x="14405" y="16755"/>
                  <a:pt x="14871" y="16833"/>
                  <a:pt x="15317" y="16993"/>
                </a:cubicBezTo>
                <a:cubicBezTo>
                  <a:pt x="15761" y="17152"/>
                  <a:pt x="16156" y="17377"/>
                  <a:pt x="16496" y="17666"/>
                </a:cubicBezTo>
                <a:lnTo>
                  <a:pt x="17492" y="18495"/>
                </a:lnTo>
                <a:lnTo>
                  <a:pt x="18682" y="16630"/>
                </a:lnTo>
                <a:lnTo>
                  <a:pt x="17346" y="15575"/>
                </a:lnTo>
                <a:cubicBezTo>
                  <a:pt x="17053" y="15324"/>
                  <a:pt x="16843" y="15035"/>
                  <a:pt x="16714" y="14705"/>
                </a:cubicBezTo>
                <a:cubicBezTo>
                  <a:pt x="16585" y="14373"/>
                  <a:pt x="16559" y="14034"/>
                  <a:pt x="16641" y="13691"/>
                </a:cubicBezTo>
                <a:cubicBezTo>
                  <a:pt x="16787" y="12985"/>
                  <a:pt x="16861" y="12282"/>
                  <a:pt x="16861" y="11578"/>
                </a:cubicBezTo>
                <a:cubicBezTo>
                  <a:pt x="16861" y="10251"/>
                  <a:pt x="16609" y="8980"/>
                  <a:pt x="16108" y="7767"/>
                </a:cubicBezTo>
                <a:cubicBezTo>
                  <a:pt x="15604" y="6580"/>
                  <a:pt x="14895" y="5512"/>
                  <a:pt x="13981" y="4566"/>
                </a:cubicBezTo>
                <a:cubicBezTo>
                  <a:pt x="13065" y="3621"/>
                  <a:pt x="12000" y="2864"/>
                  <a:pt x="10786" y="2298"/>
                </a:cubicBezTo>
                <a:cubicBezTo>
                  <a:pt x="9570" y="2864"/>
                  <a:pt x="8505" y="3621"/>
                  <a:pt x="7591" y="4566"/>
                </a:cubicBezTo>
                <a:cubicBezTo>
                  <a:pt x="6675" y="5512"/>
                  <a:pt x="5966" y="6580"/>
                  <a:pt x="5464" y="7767"/>
                </a:cubicBezTo>
                <a:cubicBezTo>
                  <a:pt x="4961" y="8980"/>
                  <a:pt x="4711" y="10251"/>
                  <a:pt x="4711" y="11578"/>
                </a:cubicBezTo>
                <a:cubicBezTo>
                  <a:pt x="4711" y="12282"/>
                  <a:pt x="4785" y="12985"/>
                  <a:pt x="4931" y="13691"/>
                </a:cubicBezTo>
                <a:cubicBezTo>
                  <a:pt x="5011" y="14034"/>
                  <a:pt x="4987" y="14373"/>
                  <a:pt x="4858" y="14705"/>
                </a:cubicBezTo>
                <a:cubicBezTo>
                  <a:pt x="4729" y="15035"/>
                  <a:pt x="4517" y="15324"/>
                  <a:pt x="4226" y="15575"/>
                </a:cubicBezTo>
                <a:lnTo>
                  <a:pt x="2890" y="16630"/>
                </a:lnTo>
                <a:moveTo>
                  <a:pt x="10786" y="11578"/>
                </a:moveTo>
                <a:cubicBezTo>
                  <a:pt x="10348" y="11578"/>
                  <a:pt x="9943" y="11483"/>
                  <a:pt x="9570" y="11297"/>
                </a:cubicBezTo>
                <a:cubicBezTo>
                  <a:pt x="9197" y="11112"/>
                  <a:pt x="8902" y="10859"/>
                  <a:pt x="8684" y="10542"/>
                </a:cubicBezTo>
                <a:cubicBezTo>
                  <a:pt x="8464" y="10223"/>
                  <a:pt x="8357" y="9877"/>
                  <a:pt x="8357" y="9506"/>
                </a:cubicBezTo>
                <a:cubicBezTo>
                  <a:pt x="8357" y="9133"/>
                  <a:pt x="8464" y="8788"/>
                  <a:pt x="8684" y="8470"/>
                </a:cubicBezTo>
                <a:cubicBezTo>
                  <a:pt x="8902" y="8151"/>
                  <a:pt x="9197" y="7901"/>
                  <a:pt x="9570" y="7715"/>
                </a:cubicBezTo>
                <a:cubicBezTo>
                  <a:pt x="9943" y="7527"/>
                  <a:pt x="10348" y="7435"/>
                  <a:pt x="10786" y="7435"/>
                </a:cubicBezTo>
                <a:cubicBezTo>
                  <a:pt x="11221" y="7435"/>
                  <a:pt x="11627" y="7527"/>
                  <a:pt x="12002" y="7715"/>
                </a:cubicBezTo>
                <a:cubicBezTo>
                  <a:pt x="12373" y="7901"/>
                  <a:pt x="12668" y="8151"/>
                  <a:pt x="12888" y="8470"/>
                </a:cubicBezTo>
                <a:cubicBezTo>
                  <a:pt x="13106" y="8788"/>
                  <a:pt x="13215" y="9133"/>
                  <a:pt x="13215" y="9506"/>
                </a:cubicBezTo>
                <a:cubicBezTo>
                  <a:pt x="13215" y="9877"/>
                  <a:pt x="13106" y="10223"/>
                  <a:pt x="12888" y="10542"/>
                </a:cubicBezTo>
                <a:cubicBezTo>
                  <a:pt x="12668" y="10859"/>
                  <a:pt x="12373" y="11112"/>
                  <a:pt x="12002" y="11297"/>
                </a:cubicBezTo>
                <a:cubicBezTo>
                  <a:pt x="11627" y="11483"/>
                  <a:pt x="11221" y="11578"/>
                  <a:pt x="10786" y="11578"/>
                </a:cubicBezTo>
              </a:path>
            </a:pathLst>
          </a:custGeom>
          <a:solidFill>
            <a:srgbClr val="5B8CB8"/>
          </a:solidFill>
          <a:ln w="12700">
            <a:miter lim="400000"/>
          </a:ln>
        </p:spPr>
        <p:txBody>
          <a:bodyPr lIns="45718" tIns="45718" rIns="45718" bIns="45718"/>
          <a:lstStyle/>
          <a:p>
            <a:pPr/>
          </a:p>
        </p:txBody>
      </p:sp>
      <p:sp>
        <p:nvSpPr>
          <p:cNvPr id="195" name="TextBox 24"/>
          <p:cNvSpPr txBox="1"/>
          <p:nvPr/>
        </p:nvSpPr>
        <p:spPr>
          <a:xfrm>
            <a:off x="8363984" y="3933378"/>
            <a:ext cx="1155701" cy="3175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b="1">
                <a:solidFill>
                  <a:srgbClr val="0A1F3D"/>
                </a:solidFill>
                <a:latin typeface="Alibaba PuHuiTi 3.0 55 Regular"/>
                <a:ea typeface="Alibaba PuHuiTi 3.0 55 Regular"/>
                <a:cs typeface="Alibaba PuHuiTi 3.0 55 Regular"/>
                <a:sym typeface="Alibaba PuHuiTi 3.0 55 Regular"/>
              </a:defRPr>
            </a:lvl1pPr>
          </a:lstStyle>
          <a:p>
            <a:pPr/>
            <a:r>
              <a:t>商业化延伸</a:t>
            </a:r>
          </a:p>
        </p:txBody>
      </p:sp>
      <p:sp>
        <p:nvSpPr>
          <p:cNvPr id="196" name="TextBox 25"/>
          <p:cNvSpPr txBox="1"/>
          <p:nvPr/>
        </p:nvSpPr>
        <p:spPr>
          <a:xfrm>
            <a:off x="8363984" y="4354264"/>
            <a:ext cx="3367735"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100">
                <a:solidFill>
                  <a:srgbClr val="0A1F3D">
                    <a:alpha val="81960"/>
                  </a:srgbClr>
                </a:solidFill>
                <a:latin typeface="FZYaYiHei GB18030L2 R"/>
                <a:ea typeface="FZYaYiHei GB18030L2 R"/>
                <a:cs typeface="FZYaYiHei GB18030L2 R"/>
                <a:sym typeface="FZYaYiHei GB18030L2 R"/>
              </a:defRPr>
            </a:pPr>
            <a:r>
              <a:t>基于高颗粒度偏好数据，自然延伸至高端定制游</a:t>
            </a:r>
          </a:p>
          <a:p>
            <a:pPr>
              <a:defRPr sz="1100">
                <a:solidFill>
                  <a:srgbClr val="0A1F3D">
                    <a:alpha val="81960"/>
                  </a:srgbClr>
                </a:solidFill>
                <a:latin typeface="FZYaYiHei GB18030L2 R"/>
                <a:ea typeface="FZYaYiHei GB18030L2 R"/>
                <a:cs typeface="FZYaYiHei GB18030L2 R"/>
                <a:sym typeface="FZYaYiHei GB18030L2 R"/>
              </a:defRPr>
            </a:pPr>
            <a:r>
              <a:t>撮合、小众目的地营销及本地生活特权推荐</a:t>
            </a:r>
          </a:p>
        </p:txBody>
      </p:sp>
      <p:sp>
        <p:nvSpPr>
          <p:cNvPr id="197" name="AutoShape 26"/>
          <p:cNvSpPr/>
          <p:nvPr/>
        </p:nvSpPr>
        <p:spPr>
          <a:xfrm>
            <a:off x="8363984" y="5709344"/>
            <a:ext cx="3129671" cy="9527"/>
          </a:xfrm>
          <a:prstGeom prst="line">
            <a:avLst/>
          </a:prstGeom>
          <a:ln>
            <a:solidFill>
              <a:srgbClr val="C5CDD6"/>
            </a:solidFill>
          </a:ln>
        </p:spPr>
        <p:txBody>
          <a:bodyPr lIns="45718" tIns="45718" rIns="45718" bIns="45718"/>
          <a:lstStyle/>
          <a:p>
            <a:pPr/>
          </a:p>
        </p:txBody>
      </p:sp>
      <p:sp>
        <p:nvSpPr>
          <p:cNvPr id="198" name="TextBox 27"/>
          <p:cNvSpPr txBox="1"/>
          <p:nvPr/>
        </p:nvSpPr>
        <p:spPr>
          <a:xfrm>
            <a:off x="8363984" y="5842694"/>
            <a:ext cx="977901" cy="3302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900">
                <a:solidFill>
                  <a:srgbClr val="5B8CB8"/>
                </a:solidFill>
                <a:latin typeface="Alibaba PuHuiTi 3.0 55 Regular"/>
                <a:ea typeface="Alibaba PuHuiTi 3.0 55 Regular"/>
                <a:cs typeface="Alibaba PuHuiTi 3.0 55 Regular"/>
                <a:sym typeface="Alibaba PuHuiTi 3.0 55 Regular"/>
              </a:defRPr>
            </a:lvl1pPr>
          </a:lstStyle>
          <a:p>
            <a:pPr/>
            <a:r>
              <a:t>第二曲线</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AutoShape 2"/>
          <p:cNvSpPr/>
          <p:nvPr/>
        </p:nvSpPr>
        <p:spPr>
          <a:xfrm>
            <a:off x="-2" y="0"/>
            <a:ext cx="12188956" cy="6858000"/>
          </a:xfrm>
          <a:prstGeom prst="rect">
            <a:avLst/>
          </a:prstGeom>
          <a:solidFill>
            <a:srgbClr val="1A1A2E"/>
          </a:solidFill>
          <a:ln w="12700">
            <a:miter lim="400000"/>
          </a:ln>
        </p:spPr>
        <p:txBody>
          <a:bodyPr lIns="45718" tIns="45718" rIns="45718" bIns="45718"/>
          <a:lstStyle/>
          <a:p>
            <a:pPr/>
          </a:p>
        </p:txBody>
      </p:sp>
      <p:pic>
        <p:nvPicPr>
          <p:cNvPr id="203" name="Picture 3" descr="Picture 3"/>
          <p:cNvPicPr>
            <a:picLocks noChangeAspect="1"/>
          </p:cNvPicPr>
          <p:nvPr/>
        </p:nvPicPr>
        <p:blipFill>
          <a:blip r:embed="rId3">
            <a:extLst/>
          </a:blip>
          <a:stretch>
            <a:fillRect/>
          </a:stretch>
        </p:blipFill>
        <p:spPr>
          <a:xfrm>
            <a:off x="0" y="0"/>
            <a:ext cx="12188953" cy="6858000"/>
          </a:xfrm>
          <a:prstGeom prst="rect">
            <a:avLst/>
          </a:prstGeom>
          <a:ln w="12700">
            <a:miter lim="400000"/>
          </a:ln>
        </p:spPr>
      </p:pic>
      <p:sp>
        <p:nvSpPr>
          <p:cNvPr id="204" name="AutoShape 4"/>
          <p:cNvSpPr/>
          <p:nvPr/>
        </p:nvSpPr>
        <p:spPr>
          <a:xfrm>
            <a:off x="-2" y="0"/>
            <a:ext cx="12188956" cy="6858000"/>
          </a:xfrm>
          <a:prstGeom prst="rect">
            <a:avLst/>
          </a:prstGeom>
          <a:solidFill>
            <a:srgbClr val="0A0A0B">
              <a:alpha val="21960"/>
            </a:srgbClr>
          </a:solidFill>
          <a:ln w="12700">
            <a:miter lim="400000"/>
          </a:ln>
        </p:spPr>
        <p:txBody>
          <a:bodyPr lIns="45718" tIns="45718" rIns="45718" bIns="45718"/>
          <a:lstStyle/>
          <a:p>
            <a:pPr/>
          </a:p>
        </p:txBody>
      </p:sp>
      <p:sp>
        <p:nvSpPr>
          <p:cNvPr id="205" name="AutoShape 5"/>
          <p:cNvSpPr/>
          <p:nvPr/>
        </p:nvSpPr>
        <p:spPr>
          <a:xfrm>
            <a:off x="5789752" y="2374007"/>
            <a:ext cx="609450" cy="12702"/>
          </a:xfrm>
          <a:prstGeom prst="rect">
            <a:avLst/>
          </a:prstGeom>
          <a:solidFill>
            <a:srgbClr val="F1F3F5">
              <a:alpha val="40000"/>
            </a:srgbClr>
          </a:solidFill>
          <a:ln w="12700">
            <a:miter lim="400000"/>
          </a:ln>
        </p:spPr>
        <p:txBody>
          <a:bodyPr lIns="45718" tIns="45718" rIns="45718" bIns="45718"/>
          <a:lstStyle/>
          <a:p>
            <a:pPr/>
          </a:p>
        </p:txBody>
      </p:sp>
      <p:sp>
        <p:nvSpPr>
          <p:cNvPr id="206" name="TextBox 6"/>
          <p:cNvSpPr txBox="1"/>
          <p:nvPr/>
        </p:nvSpPr>
        <p:spPr>
          <a:xfrm>
            <a:off x="4716524" y="2766118"/>
            <a:ext cx="2755901" cy="9525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defRPr b="1" sz="5400">
                <a:solidFill>
                  <a:srgbClr val="F1F3F5"/>
                </a:solidFill>
                <a:latin typeface="Alibaba PuHuiTi 3.0 55 Regular"/>
                <a:ea typeface="Alibaba PuHuiTi 3.0 55 Regular"/>
                <a:cs typeface="Alibaba PuHuiTi 3.0 55 Regular"/>
                <a:sym typeface="Alibaba PuHuiTi 3.0 55 Regular"/>
              </a:defRPr>
            </a:lvl1pPr>
          </a:lstStyle>
          <a:p>
            <a:pPr/>
            <a:r>
              <a:t>感谢聆听</a:t>
            </a:r>
          </a:p>
        </p:txBody>
      </p:sp>
      <p:sp>
        <p:nvSpPr>
          <p:cNvPr id="207" name="TextBox 7"/>
          <p:cNvSpPr txBox="1"/>
          <p:nvPr/>
        </p:nvSpPr>
        <p:spPr>
          <a:xfrm>
            <a:off x="4006532" y="3806130"/>
            <a:ext cx="4175888" cy="2667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1500">
                <a:solidFill>
                  <a:srgbClr val="F1F3F5">
                    <a:alpha val="85098"/>
                  </a:srgbClr>
                </a:solidFill>
                <a:latin typeface="FZYaYiHei GB18030L2 R"/>
                <a:ea typeface="FZYaYiHei GB18030L2 R"/>
                <a:cs typeface="FZYaYiHei GB18030L2 R"/>
                <a:sym typeface="FZYaYiHei GB18030L2 R"/>
              </a:defRPr>
            </a:lvl1pPr>
          </a:lstStyle>
          <a:p>
            <a:pPr/>
            <a:r>
              <a:t>知途 TOURIS · 让每一次出发都站在过去的肩膀上</a:t>
            </a:r>
          </a:p>
        </p:txBody>
      </p:sp>
      <p:sp>
        <p:nvSpPr>
          <p:cNvPr id="208" name="AutoShape 8"/>
          <p:cNvSpPr/>
          <p:nvPr/>
        </p:nvSpPr>
        <p:spPr>
          <a:xfrm>
            <a:off x="5789752" y="4471292"/>
            <a:ext cx="609450" cy="12702"/>
          </a:xfrm>
          <a:prstGeom prst="rect">
            <a:avLst/>
          </a:prstGeom>
          <a:solidFill>
            <a:srgbClr val="F1F3F5">
              <a:alpha val="40000"/>
            </a:srgbClr>
          </a:solidFill>
          <a:ln w="12700">
            <a:miter lim="400000"/>
          </a:ln>
        </p:spPr>
        <p:txBody>
          <a:bodyPr lIns="45718" tIns="45718" rIns="45718" bIns="45718"/>
          <a:lstStyle/>
          <a:p>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